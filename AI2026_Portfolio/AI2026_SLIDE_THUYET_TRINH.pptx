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53212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412480" y="-365760"/>
            <a:ext cx="4114800" cy="2011680"/>
          </a:xfrm>
          <a:prstGeom prst="roundRect">
            <a:avLst>
              <a:gd name="adj" fmla="val 20000"/>
            </a:avLst>
          </a:prstGeom>
          <a:solidFill>
            <a:srgbClr val="13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601200" y="731520"/>
            <a:ext cx="2926080" cy="1097280"/>
          </a:xfrm>
          <a:prstGeom prst="roundRect">
            <a:avLst>
              <a:gd name="adj" fmla="val 20000"/>
            </a:avLst>
          </a:prstGeom>
          <a:solidFill>
            <a:srgbClr val="1B3D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685800"/>
            <a:ext cx="5216652" cy="292608"/>
          </a:xfrm>
          <a:prstGeom prst="roundRect">
            <a:avLst>
              <a:gd name="adj" fmla="val 40000"/>
            </a:avLst>
          </a:prstGeom>
          <a:solidFill>
            <a:srgbClr val="E05A1F"/>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FFFFFF"/>
                </a:solidFill>
                <a:latin typeface="Segoe UI"/>
              </a:rPr>
              <a:t>CUỘC THI SÁNG TẠO TRẺ QUỐC GIA — TRÍ TUỆ NHÂN TẠO 2026 (BẢNG C)</a:t>
            </a:r>
          </a:p>
        </p:txBody>
      </p:sp>
      <p:sp>
        <p:nvSpPr>
          <p:cNvPr id="6" name="TextBox 5"/>
          <p:cNvSpPr txBox="1"/>
          <p:nvPr/>
        </p:nvSpPr>
        <p:spPr>
          <a:xfrm>
            <a:off x="731520" y="1143000"/>
            <a:ext cx="10698480" cy="914400"/>
          </a:xfrm>
          <a:prstGeom prst="rect">
            <a:avLst/>
          </a:prstGeom>
          <a:noFill/>
        </p:spPr>
        <p:txBody>
          <a:bodyPr wrap="none">
            <a:spAutoFit/>
          </a:bodyPr>
          <a:lstStyle/>
          <a:p>
            <a:r>
              <a:rPr sz="3300" b="1">
                <a:solidFill>
                  <a:srgbClr val="FFFFFF"/>
                </a:solidFill>
                <a:latin typeface="Segoe UI"/>
              </a:rPr>
              <a:t>STAR TRACKER — DEMO LAPTOP</a:t>
            </a:r>
          </a:p>
          <a:p>
            <a:pPr>
              <a:spcBef>
                <a:spcPts val="600"/>
              </a:spcBef>
            </a:pPr>
            <a:r>
              <a:rPr sz="1700" b="1">
                <a:solidFill>
                  <a:srgbClr val="93C5FD"/>
                </a:solidFill>
                <a:latin typeface="Segoe UI"/>
              </a:rPr>
              <a:t>Centroid → Pyramid / K-vector → Wahba → Quaternion 16 byte</a:t>
            </a:r>
          </a:p>
        </p:txBody>
      </p:sp>
      <p:sp>
        <p:nvSpPr>
          <p:cNvPr id="7" name="Rounded Rectangle 6"/>
          <p:cNvSpPr/>
          <p:nvPr/>
        </p:nvSpPr>
        <p:spPr>
          <a:xfrm>
            <a:off x="731520" y="2286000"/>
            <a:ext cx="2880360" cy="256032"/>
          </a:xfrm>
          <a:prstGeom prst="roundRect">
            <a:avLst>
              <a:gd name="adj" fmla="val 40000"/>
            </a:avLst>
          </a:prstGeom>
          <a:solidFill>
            <a:srgbClr val="15335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E2E8F0"/>
                </a:solidFill>
                <a:latin typeface="Segoe UI"/>
              </a:rPr>
              <a:t>✦ Quaternion J2000 (16 byte)</a:t>
            </a:r>
          </a:p>
        </p:txBody>
      </p:sp>
      <p:sp>
        <p:nvSpPr>
          <p:cNvPr id="8" name="Rounded Rectangle 7"/>
          <p:cNvSpPr/>
          <p:nvPr/>
        </p:nvSpPr>
        <p:spPr>
          <a:xfrm>
            <a:off x="3813048" y="2286000"/>
            <a:ext cx="3703320" cy="256032"/>
          </a:xfrm>
          <a:prstGeom prst="roundRect">
            <a:avLst>
              <a:gd name="adj" fmla="val 40000"/>
            </a:avLst>
          </a:prstGeom>
          <a:solidFill>
            <a:srgbClr val="15335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E2E8F0"/>
                </a:solidFill>
                <a:latin typeface="Segoe UI"/>
              </a:rPr>
              <a:t>✦ Yale Bright Star Catalog (5023 sao)</a:t>
            </a:r>
          </a:p>
        </p:txBody>
      </p:sp>
      <p:sp>
        <p:nvSpPr>
          <p:cNvPr id="9" name="Rounded Rectangle 8"/>
          <p:cNvSpPr/>
          <p:nvPr/>
        </p:nvSpPr>
        <p:spPr>
          <a:xfrm>
            <a:off x="7717536" y="2286000"/>
            <a:ext cx="3794760" cy="256032"/>
          </a:xfrm>
          <a:prstGeom prst="roundRect">
            <a:avLst>
              <a:gd name="adj" fmla="val 40000"/>
            </a:avLst>
          </a:prstGeom>
          <a:solidFill>
            <a:srgbClr val="15335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E2E8F0"/>
                </a:solidFill>
                <a:latin typeface="Segoe UI"/>
              </a:rPr>
              <a:t>✦ Thuật toán lai: CoG + CNN MobileUNet</a:t>
            </a:r>
          </a:p>
        </p:txBody>
      </p:sp>
      <p:sp>
        <p:nvSpPr>
          <p:cNvPr id="10" name="Rounded Rectangle 9"/>
          <p:cNvSpPr/>
          <p:nvPr/>
        </p:nvSpPr>
        <p:spPr>
          <a:xfrm>
            <a:off x="731520" y="2834640"/>
            <a:ext cx="10728655" cy="2331720"/>
          </a:xfrm>
          <a:prstGeom prst="roundRect">
            <a:avLst>
              <a:gd name="adj" fmla="val 5000"/>
            </a:avLst>
          </a:prstGeom>
          <a:solidFill>
            <a:srgbClr val="0F223D"/>
          </a:solidFill>
          <a:ln w="15240">
            <a:solidFill>
              <a:srgbClr val="2344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2971800"/>
            <a:ext cx="3840480" cy="2011680"/>
          </a:xfrm>
          <a:prstGeom prst="rect">
            <a:avLst/>
          </a:prstGeom>
          <a:noFill/>
        </p:spPr>
        <p:txBody>
          <a:bodyPr wrap="square">
            <a:spAutoFit/>
          </a:bodyPr>
          <a:lstStyle/>
          <a:p>
            <a:r>
              <a:rPr sz="1100" b="1">
                <a:solidFill>
                  <a:srgbClr val="93C5FD"/>
                </a:solidFill>
                <a:latin typeface="Segoe UI"/>
              </a:rPr>
              <a:t>ĐƠN VỊ ĐÀO TẠO &amp; NGHIÊN CỨU</a:t>
            </a:r>
          </a:p>
          <a:p>
            <a:pPr>
              <a:spcBef>
                <a:spcPts val="600"/>
              </a:spcBef>
            </a:pPr>
            <a:r>
              <a:rPr sz="1500" b="1">
                <a:solidFill>
                  <a:srgbClr val="FFFFFF"/>
                </a:solidFill>
                <a:latin typeface="Segoe UI"/>
              </a:rPr>
              <a:t>Trường Đại học Bách khoa, Đại học Đà Nẵng
Khoa Công nghệ thông tin</a:t>
            </a:r>
          </a:p>
        </p:txBody>
      </p:sp>
      <p:sp>
        <p:nvSpPr>
          <p:cNvPr id="12" name="TextBox 11"/>
          <p:cNvSpPr txBox="1"/>
          <p:nvPr/>
        </p:nvSpPr>
        <p:spPr>
          <a:xfrm>
            <a:off x="4983480" y="2971800"/>
            <a:ext cx="3291840" cy="2011680"/>
          </a:xfrm>
          <a:prstGeom prst="rect">
            <a:avLst/>
          </a:prstGeom>
          <a:noFill/>
        </p:spPr>
        <p:txBody>
          <a:bodyPr wrap="square">
            <a:spAutoFit/>
          </a:bodyPr>
          <a:lstStyle/>
          <a:p>
            <a:r>
              <a:rPr sz="1100" b="1">
                <a:solidFill>
                  <a:srgbClr val="93C5FD"/>
                </a:solidFill>
                <a:latin typeface="Segoe UI"/>
              </a:rPr>
              <a:t>NHÓM SINH VIÊN THỰC HIỆN</a:t>
            </a:r>
          </a:p>
          <a:p>
            <a:pPr>
              <a:spcBef>
                <a:spcPts val="600"/>
              </a:spcBef>
            </a:pPr>
            <a:r>
              <a:rPr sz="1400" b="0">
                <a:solidFill>
                  <a:srgbClr val="FFFFFF"/>
                </a:solidFill>
                <a:latin typeface="Segoe UI"/>
              </a:rPr>
              <a:t>• Hoàng Trần Đức Hải
• Nguyễn Tiến
• Mai Tạ Trúc Vy</a:t>
            </a:r>
          </a:p>
        </p:txBody>
      </p:sp>
      <p:sp>
        <p:nvSpPr>
          <p:cNvPr id="13" name="TextBox 12"/>
          <p:cNvSpPr txBox="1"/>
          <p:nvPr/>
        </p:nvSpPr>
        <p:spPr>
          <a:xfrm>
            <a:off x="8458200" y="2971800"/>
            <a:ext cx="2834640" cy="2011680"/>
          </a:xfrm>
          <a:prstGeom prst="rect">
            <a:avLst/>
          </a:prstGeom>
          <a:noFill/>
        </p:spPr>
        <p:txBody>
          <a:bodyPr wrap="square">
            <a:spAutoFit/>
          </a:bodyPr>
          <a:lstStyle/>
          <a:p>
            <a:r>
              <a:rPr sz="1100" b="1">
                <a:solidFill>
                  <a:srgbClr val="93C5FD"/>
                </a:solidFill>
                <a:latin typeface="Segoe UI"/>
              </a:rPr>
              <a:t>GIẢNG VIÊN HƯỚNG DẪN</a:t>
            </a:r>
          </a:p>
          <a:p>
            <a:pPr>
              <a:spcBef>
                <a:spcPts val="600"/>
              </a:spcBef>
            </a:pPr>
            <a:r>
              <a:rPr sz="1400" b="1">
                <a:solidFill>
                  <a:srgbClr val="FFFFFF"/>
                </a:solidFill>
                <a:latin typeface="Segoe UI"/>
              </a:rPr>
              <a:t>GVHD: TS. Nguyễn Năng Hùng Vân</a:t>
            </a:r>
          </a:p>
        </p:txBody>
      </p:sp>
      <p:sp>
        <p:nvSpPr>
          <p:cNvPr id="14" name="Rectangle 13"/>
          <p:cNvSpPr/>
          <p:nvPr/>
        </p:nvSpPr>
        <p:spPr>
          <a:xfrm>
            <a:off x="0" y="5532120"/>
            <a:ext cx="12191695" cy="1325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logo_truong.png"/>
          <p:cNvPicPr>
            <a:picLocks noChangeAspect="1"/>
          </p:cNvPicPr>
          <p:nvPr/>
        </p:nvPicPr>
        <p:blipFill>
          <a:blip r:embed="rId2"/>
          <a:stretch>
            <a:fillRect/>
          </a:stretch>
        </p:blipFill>
        <p:spPr>
          <a:xfrm>
            <a:off x="1241261" y="5641848"/>
            <a:ext cx="3918276" cy="621792"/>
          </a:xfrm>
          <a:prstGeom prst="rect">
            <a:avLst/>
          </a:prstGeom>
        </p:spPr>
      </p:pic>
      <p:pic>
        <p:nvPicPr>
          <p:cNvPr id="16" name="Picture 15" descr="logo_khoa.png"/>
          <p:cNvPicPr>
            <a:picLocks noChangeAspect="1"/>
          </p:cNvPicPr>
          <p:nvPr/>
        </p:nvPicPr>
        <p:blipFill>
          <a:blip r:embed="rId3"/>
          <a:stretch>
            <a:fillRect/>
          </a:stretch>
        </p:blipFill>
        <p:spPr>
          <a:xfrm>
            <a:off x="6493691" y="5641848"/>
            <a:ext cx="4934857" cy="6217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641348" cy="237744"/>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MỤC LỤC TỔNG QUAN</a:t>
            </a:r>
          </a:p>
        </p:txBody>
      </p:sp>
      <p:sp>
        <p:nvSpPr>
          <p:cNvPr id="5" name="TextBox 4"/>
          <p:cNvSpPr txBox="1"/>
          <p:nvPr/>
        </p:nvSpPr>
        <p:spPr>
          <a:xfrm>
            <a:off x="548640" y="475488"/>
            <a:ext cx="11094415" cy="384048"/>
          </a:xfrm>
          <a:prstGeom prst="rect">
            <a:avLst/>
          </a:prstGeom>
          <a:noFill/>
        </p:spPr>
        <p:txBody>
          <a:bodyPr wrap="square">
            <a:spAutoFit/>
          </a:bodyPr>
          <a:lstStyle/>
          <a:p>
            <a:pPr algn="l"/>
            <a:r>
              <a:rPr sz="2300" b="1">
                <a:solidFill>
                  <a:srgbClr val="133E68"/>
                </a:solidFill>
                <a:latin typeface="Segoe UI"/>
              </a:rPr>
              <a:t>Nội dung thuyết trình</a:t>
            </a:r>
          </a:p>
        </p:txBody>
      </p:sp>
      <p:sp>
        <p:nvSpPr>
          <p:cNvPr id="6" name="TextBox 5"/>
          <p:cNvSpPr txBox="1"/>
          <p:nvPr/>
        </p:nvSpPr>
        <p:spPr>
          <a:xfrm>
            <a:off x="548640" y="841248"/>
            <a:ext cx="11094415" cy="256032"/>
          </a:xfrm>
          <a:prstGeom prst="rect">
            <a:avLst/>
          </a:prstGeom>
          <a:noFill/>
        </p:spPr>
        <p:txBody>
          <a:bodyPr wrap="none">
            <a:spAutoFit/>
          </a:bodyPr>
          <a:lstStyle/>
          <a:p>
            <a:pPr algn="l"/>
            <a:r>
              <a:rPr sz="1250" b="0">
                <a:solidFill>
                  <a:srgbClr val="64748B"/>
                </a:solidFill>
                <a:latin typeface="Segoe UI"/>
              </a:rPr>
              <a:t>Cấu trúc bài báo cáo gồm 6 phần trọng tâm</a:t>
            </a:r>
          </a:p>
        </p:txBody>
      </p:sp>
      <p:sp>
        <p:nvSpPr>
          <p:cNvPr id="7" name="Rectangle 6"/>
          <p:cNvSpPr/>
          <p:nvPr/>
        </p:nvSpPr>
        <p:spPr>
          <a:xfrm>
            <a:off x="548640" y="1115568"/>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325880"/>
            <a:ext cx="5394960" cy="141732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325880"/>
            <a:ext cx="539496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77240" y="1645919"/>
            <a:ext cx="777240" cy="777240"/>
          </a:xfrm>
          <a:prstGeom prst="ellipse">
            <a:avLst/>
          </a:prstGeom>
          <a:solidFill>
            <a:srgbClr val="EBF3FA"/>
          </a:solidFill>
          <a:ln>
            <a:solidFill>
              <a:srgbClr val="133E6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33E68"/>
                </a:solidFill>
                <a:latin typeface="Segoe UI"/>
              </a:rPr>
              <a:t>01</a:t>
            </a:r>
          </a:p>
        </p:txBody>
      </p:sp>
      <p:sp>
        <p:nvSpPr>
          <p:cNvPr id="11" name="Rounded Rectangle 10"/>
          <p:cNvSpPr/>
          <p:nvPr/>
        </p:nvSpPr>
        <p:spPr>
          <a:xfrm>
            <a:off x="1691640" y="1527048"/>
            <a:ext cx="1097280"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TỔNG QUAN</a:t>
            </a:r>
          </a:p>
        </p:txBody>
      </p:sp>
      <p:sp>
        <p:nvSpPr>
          <p:cNvPr id="12" name="TextBox 11"/>
          <p:cNvSpPr txBox="1"/>
          <p:nvPr/>
        </p:nvSpPr>
        <p:spPr>
          <a:xfrm>
            <a:off x="1691640" y="1801368"/>
            <a:ext cx="4069080" cy="822960"/>
          </a:xfrm>
          <a:prstGeom prst="rect">
            <a:avLst/>
          </a:prstGeom>
          <a:noFill/>
        </p:spPr>
        <p:txBody>
          <a:bodyPr wrap="square">
            <a:spAutoFit/>
          </a:bodyPr>
          <a:lstStyle/>
          <a:p>
            <a:pPr algn="l"/>
            <a:r>
              <a:rPr sz="1500" b="1">
                <a:solidFill>
                  <a:srgbClr val="1E293B"/>
                </a:solidFill>
                <a:latin typeface="Segoe UI"/>
              </a:rPr>
              <a:t>Bài toán lost-in-space và quaternion 16 byte</a:t>
            </a:r>
          </a:p>
        </p:txBody>
      </p:sp>
      <p:sp>
        <p:nvSpPr>
          <p:cNvPr id="13" name="Rounded Rectangle 12"/>
          <p:cNvSpPr/>
          <p:nvPr/>
        </p:nvSpPr>
        <p:spPr>
          <a:xfrm>
            <a:off x="6245352" y="1325880"/>
            <a:ext cx="5394960" cy="141732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245352" y="1325880"/>
            <a:ext cx="539496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473952" y="1645919"/>
            <a:ext cx="777240" cy="777240"/>
          </a:xfrm>
          <a:prstGeom prst="ellipse">
            <a:avLst/>
          </a:prstGeom>
          <a:solidFill>
            <a:srgbClr val="EBF3FA"/>
          </a:solidFill>
          <a:ln>
            <a:solidFill>
              <a:srgbClr val="133E6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33E68"/>
                </a:solidFill>
                <a:latin typeface="Segoe UI"/>
              </a:rPr>
              <a:t>02</a:t>
            </a:r>
          </a:p>
        </p:txBody>
      </p:sp>
      <p:sp>
        <p:nvSpPr>
          <p:cNvPr id="16" name="Rounded Rectangle 15"/>
          <p:cNvSpPr/>
          <p:nvPr/>
        </p:nvSpPr>
        <p:spPr>
          <a:xfrm>
            <a:off x="7388352" y="1527048"/>
            <a:ext cx="1097280"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THUẬT TOÁN</a:t>
            </a:r>
          </a:p>
        </p:txBody>
      </p:sp>
      <p:sp>
        <p:nvSpPr>
          <p:cNvPr id="17" name="TextBox 16"/>
          <p:cNvSpPr txBox="1"/>
          <p:nvPr/>
        </p:nvSpPr>
        <p:spPr>
          <a:xfrm>
            <a:off x="7388352" y="1801368"/>
            <a:ext cx="4069080" cy="822960"/>
          </a:xfrm>
          <a:prstGeom prst="rect">
            <a:avLst/>
          </a:prstGeom>
          <a:noFill/>
        </p:spPr>
        <p:txBody>
          <a:bodyPr wrap="square">
            <a:spAutoFit/>
          </a:bodyPr>
          <a:lstStyle/>
          <a:p>
            <a:pPr algn="l"/>
            <a:r>
              <a:rPr sz="1500" b="1">
                <a:solidFill>
                  <a:srgbClr val="1E293B"/>
                </a:solidFill>
                <a:latin typeface="Segoe UI"/>
              </a:rPr>
              <a:t>Đường ống cổ điển và CNN chỉ ở bước tìm tâm</a:t>
            </a:r>
          </a:p>
        </p:txBody>
      </p:sp>
      <p:sp>
        <p:nvSpPr>
          <p:cNvPr id="18" name="Rounded Rectangle 17"/>
          <p:cNvSpPr/>
          <p:nvPr/>
        </p:nvSpPr>
        <p:spPr>
          <a:xfrm>
            <a:off x="548640" y="2999232"/>
            <a:ext cx="5394960" cy="141732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48640" y="2999232"/>
            <a:ext cx="539496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77240" y="3319272"/>
            <a:ext cx="777240" cy="777240"/>
          </a:xfrm>
          <a:prstGeom prst="ellipse">
            <a:avLst/>
          </a:prstGeom>
          <a:solidFill>
            <a:srgbClr val="EBF3FA"/>
          </a:solidFill>
          <a:ln>
            <a:solidFill>
              <a:srgbClr val="133E6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33E68"/>
                </a:solidFill>
                <a:latin typeface="Segoe UI"/>
              </a:rPr>
              <a:t>03</a:t>
            </a:r>
          </a:p>
        </p:txBody>
      </p:sp>
      <p:sp>
        <p:nvSpPr>
          <p:cNvPr id="21" name="Rounded Rectangle 20"/>
          <p:cNvSpPr/>
          <p:nvPr/>
        </p:nvSpPr>
        <p:spPr>
          <a:xfrm>
            <a:off x="1691640" y="3200400"/>
            <a:ext cx="1175004"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THỰC NGHIỆM</a:t>
            </a:r>
          </a:p>
        </p:txBody>
      </p:sp>
      <p:sp>
        <p:nvSpPr>
          <p:cNvPr id="22" name="TextBox 21"/>
          <p:cNvSpPr txBox="1"/>
          <p:nvPr/>
        </p:nvSpPr>
        <p:spPr>
          <a:xfrm>
            <a:off x="1691640" y="3474720"/>
            <a:ext cx="4069080" cy="822960"/>
          </a:xfrm>
          <a:prstGeom prst="rect">
            <a:avLst/>
          </a:prstGeom>
          <a:noFill/>
        </p:spPr>
        <p:txBody>
          <a:bodyPr wrap="square">
            <a:spAutoFit/>
          </a:bodyPr>
          <a:lstStyle/>
          <a:p>
            <a:pPr algn="l"/>
            <a:r>
              <a:rPr sz="1500" b="1">
                <a:solidFill>
                  <a:srgbClr val="1E293B"/>
                </a:solidFill>
                <a:latin typeface="Segoe UI"/>
              </a:rPr>
              <a:t>500 khung sạch: CoG chính xác hơn về tâm sao</a:t>
            </a:r>
          </a:p>
        </p:txBody>
      </p:sp>
      <p:sp>
        <p:nvSpPr>
          <p:cNvPr id="23" name="Rounded Rectangle 22"/>
          <p:cNvSpPr/>
          <p:nvPr/>
        </p:nvSpPr>
        <p:spPr>
          <a:xfrm>
            <a:off x="6245352" y="2999232"/>
            <a:ext cx="5394960" cy="141732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245352" y="2999232"/>
            <a:ext cx="5394960" cy="73152"/>
          </a:xfrm>
          <a:prstGeom prst="roundRect">
            <a:avLst>
              <a:gd name="adj" fmla="val 40000"/>
            </a:avLst>
          </a:prstGeom>
          <a:solidFill>
            <a:srgbClr val="E0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473952" y="3319272"/>
            <a:ext cx="777240" cy="777240"/>
          </a:xfrm>
          <a:prstGeom prst="ellipse">
            <a:avLst/>
          </a:prstGeom>
          <a:solidFill>
            <a:srgbClr val="FFF2EB"/>
          </a:solidFill>
          <a:ln>
            <a:solidFill>
              <a:srgbClr val="E05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E05A1F"/>
                </a:solidFill>
                <a:latin typeface="Segoe UI"/>
              </a:rPr>
              <a:t>04</a:t>
            </a:r>
          </a:p>
        </p:txBody>
      </p:sp>
      <p:sp>
        <p:nvSpPr>
          <p:cNvPr id="26" name="Rounded Rectangle 25"/>
          <p:cNvSpPr/>
          <p:nvPr/>
        </p:nvSpPr>
        <p:spPr>
          <a:xfrm>
            <a:off x="7388352" y="3200400"/>
            <a:ext cx="1330452" cy="201168"/>
          </a:xfrm>
          <a:prstGeom prst="roundRect">
            <a:avLst>
              <a:gd name="adj" fmla="val 40000"/>
            </a:avLst>
          </a:prstGeom>
          <a:solidFill>
            <a:srgbClr val="FFF2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E05A1F"/>
                </a:solidFill>
                <a:latin typeface="Segoe UI"/>
              </a:rPr>
              <a:t>ĐIỂM SÁNG TẠO</a:t>
            </a:r>
          </a:p>
        </p:txBody>
      </p:sp>
      <p:sp>
        <p:nvSpPr>
          <p:cNvPr id="27" name="TextBox 26"/>
          <p:cNvSpPr txBox="1"/>
          <p:nvPr/>
        </p:nvSpPr>
        <p:spPr>
          <a:xfrm>
            <a:off x="7388352" y="3474720"/>
            <a:ext cx="4069080" cy="822960"/>
          </a:xfrm>
          <a:prstGeom prst="rect">
            <a:avLst/>
          </a:prstGeom>
          <a:noFill/>
        </p:spPr>
        <p:txBody>
          <a:bodyPr wrap="square">
            <a:spAutoFit/>
          </a:bodyPr>
          <a:lstStyle/>
          <a:p>
            <a:pPr algn="l"/>
            <a:r>
              <a:rPr sz="1500" b="1">
                <a:solidFill>
                  <a:srgbClr val="1E293B"/>
                </a:solidFill>
                <a:latin typeface="Segoe UI"/>
              </a:rPr>
              <a:t>Ảnh núi LOST: CNN giảm điểm sáng giả trên địa hình</a:t>
            </a:r>
          </a:p>
        </p:txBody>
      </p:sp>
      <p:sp>
        <p:nvSpPr>
          <p:cNvPr id="28" name="Rounded Rectangle 27"/>
          <p:cNvSpPr/>
          <p:nvPr/>
        </p:nvSpPr>
        <p:spPr>
          <a:xfrm>
            <a:off x="548640" y="4672584"/>
            <a:ext cx="5394960" cy="141732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548640" y="4672584"/>
            <a:ext cx="539496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77240" y="4992624"/>
            <a:ext cx="777240" cy="777240"/>
          </a:xfrm>
          <a:prstGeom prst="ellipse">
            <a:avLst/>
          </a:prstGeom>
          <a:solidFill>
            <a:srgbClr val="EBF3FA"/>
          </a:solidFill>
          <a:ln>
            <a:solidFill>
              <a:srgbClr val="133E6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33E68"/>
                </a:solidFill>
                <a:latin typeface="Segoe UI"/>
              </a:rPr>
              <a:t>05</a:t>
            </a:r>
          </a:p>
        </p:txBody>
      </p:sp>
      <p:sp>
        <p:nvSpPr>
          <p:cNvPr id="31" name="Rounded Rectangle 30"/>
          <p:cNvSpPr/>
          <p:nvPr/>
        </p:nvSpPr>
        <p:spPr>
          <a:xfrm>
            <a:off x="1691640" y="4873752"/>
            <a:ext cx="1097280"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ĐỐI CHIẾU</a:t>
            </a:r>
          </a:p>
        </p:txBody>
      </p:sp>
      <p:sp>
        <p:nvSpPr>
          <p:cNvPr id="32" name="TextBox 31"/>
          <p:cNvSpPr txBox="1"/>
          <p:nvPr/>
        </p:nvSpPr>
        <p:spPr>
          <a:xfrm>
            <a:off x="1691640" y="5148072"/>
            <a:ext cx="4069080" cy="822960"/>
          </a:xfrm>
          <a:prstGeom prst="rect">
            <a:avLst/>
          </a:prstGeom>
          <a:noFill/>
        </p:spPr>
        <p:txBody>
          <a:bodyPr wrap="square">
            <a:spAutoFit/>
          </a:bodyPr>
          <a:lstStyle/>
          <a:p>
            <a:pPr algn="l"/>
            <a:r>
              <a:rPr sz="1500" b="1">
                <a:solidFill>
                  <a:srgbClr val="1E293B"/>
                </a:solidFill>
                <a:latin typeface="Segoe UI"/>
              </a:rPr>
              <a:t>Số của Zhao et al. được trích riêng</a:t>
            </a:r>
          </a:p>
        </p:txBody>
      </p:sp>
      <p:sp>
        <p:nvSpPr>
          <p:cNvPr id="33" name="Rounded Rectangle 32"/>
          <p:cNvSpPr/>
          <p:nvPr/>
        </p:nvSpPr>
        <p:spPr>
          <a:xfrm>
            <a:off x="6245352" y="4672584"/>
            <a:ext cx="5394960" cy="141732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245352" y="4672584"/>
            <a:ext cx="539496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473952" y="4992624"/>
            <a:ext cx="777240" cy="777240"/>
          </a:xfrm>
          <a:prstGeom prst="ellipse">
            <a:avLst/>
          </a:prstGeom>
          <a:solidFill>
            <a:srgbClr val="EBF3FA"/>
          </a:solidFill>
          <a:ln>
            <a:solidFill>
              <a:srgbClr val="133E6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33E68"/>
                </a:solidFill>
                <a:latin typeface="Segoe UI"/>
              </a:rPr>
              <a:t>06</a:t>
            </a:r>
          </a:p>
        </p:txBody>
      </p:sp>
      <p:sp>
        <p:nvSpPr>
          <p:cNvPr id="36" name="Rounded Rectangle 35"/>
          <p:cNvSpPr/>
          <p:nvPr/>
        </p:nvSpPr>
        <p:spPr>
          <a:xfrm>
            <a:off x="7388352" y="4873752"/>
            <a:ext cx="1408176"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TỔNG KẾT &amp; Q&amp;A</a:t>
            </a:r>
          </a:p>
        </p:txBody>
      </p:sp>
      <p:sp>
        <p:nvSpPr>
          <p:cNvPr id="37" name="TextBox 36"/>
          <p:cNvSpPr txBox="1"/>
          <p:nvPr/>
        </p:nvSpPr>
        <p:spPr>
          <a:xfrm>
            <a:off x="7388352" y="5148072"/>
            <a:ext cx="4069080" cy="822960"/>
          </a:xfrm>
          <a:prstGeom prst="rect">
            <a:avLst/>
          </a:prstGeom>
          <a:noFill/>
        </p:spPr>
        <p:txBody>
          <a:bodyPr wrap="square">
            <a:spAutoFit/>
          </a:bodyPr>
          <a:lstStyle/>
          <a:p>
            <a:pPr algn="l"/>
            <a:r>
              <a:rPr sz="1500" b="1">
                <a:solidFill>
                  <a:srgbClr val="1E293B"/>
                </a:solidFill>
                <a:latin typeface="Segoe UI"/>
              </a:rPr>
              <a:t>Giới hạn và câu hỏi thường gặp</a:t>
            </a:r>
          </a:p>
        </p:txBody>
      </p:sp>
      <p:sp>
        <p:nvSpPr>
          <p:cNvPr id="38" name="Rectangle 37"/>
          <p:cNvSpPr/>
          <p:nvPr/>
        </p:nvSpPr>
        <p:spPr>
          <a:xfrm>
            <a:off x="548640" y="6364224"/>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48640" y="6419088"/>
            <a:ext cx="9144000" cy="320040"/>
          </a:xfrm>
          <a:prstGeom prst="rect">
            <a:avLst/>
          </a:prstGeom>
          <a:noFill/>
        </p:spPr>
        <p:txBody>
          <a:bodyPr wrap="none">
            <a:spAutoFit/>
          </a:bodyPr>
          <a:lstStyle/>
          <a:p>
            <a:r>
              <a:rPr sz="1000" b="0">
                <a:solidFill>
                  <a:srgbClr val="64748B"/>
                </a:solidFill>
                <a:latin typeface="Segoe UI"/>
              </a:rPr>
              <a:t>Trường Đại học Bách khoa, Đại học Đà Nẵng — Khoa Công nghệ thông tin</a:t>
            </a:r>
          </a:p>
        </p:txBody>
      </p:sp>
      <p:sp>
        <p:nvSpPr>
          <p:cNvPr id="40" name="TextBox 39"/>
          <p:cNvSpPr txBox="1"/>
          <p:nvPr/>
        </p:nvSpPr>
        <p:spPr>
          <a:xfrm>
            <a:off x="9814255" y="6419088"/>
            <a:ext cx="1828800" cy="320040"/>
          </a:xfrm>
          <a:prstGeom prst="rect">
            <a:avLst/>
          </a:prstGeom>
          <a:noFill/>
        </p:spPr>
        <p:txBody>
          <a:bodyPr wrap="none">
            <a:spAutoFit/>
          </a:bodyPr>
          <a:lstStyle/>
          <a:p>
            <a:pPr algn="r"/>
            <a:r>
              <a:rPr sz="1000" b="1">
                <a:solidFill>
                  <a:srgbClr val="133E68"/>
                </a:solidFill>
                <a:latin typeface="Segoe UI"/>
              </a:rPr>
              <a:t>2 / 13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2185416" cy="237744"/>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01 | BỐI CẢNH &amp; MỤC TIÊU</a:t>
            </a:r>
          </a:p>
        </p:txBody>
      </p:sp>
      <p:sp>
        <p:nvSpPr>
          <p:cNvPr id="5" name="TextBox 4"/>
          <p:cNvSpPr txBox="1"/>
          <p:nvPr/>
        </p:nvSpPr>
        <p:spPr>
          <a:xfrm>
            <a:off x="548640" y="475488"/>
            <a:ext cx="11094415" cy="384048"/>
          </a:xfrm>
          <a:prstGeom prst="rect">
            <a:avLst/>
          </a:prstGeom>
          <a:noFill/>
        </p:spPr>
        <p:txBody>
          <a:bodyPr wrap="square">
            <a:spAutoFit/>
          </a:bodyPr>
          <a:lstStyle/>
          <a:p>
            <a:pPr algn="l"/>
            <a:r>
              <a:rPr sz="2300" b="1">
                <a:solidFill>
                  <a:srgbClr val="133E68"/>
                </a:solidFill>
                <a:latin typeface="Segoe UI"/>
              </a:rPr>
              <a:t>1. Bài toán lost-in-space</a:t>
            </a:r>
          </a:p>
        </p:txBody>
      </p:sp>
      <p:sp>
        <p:nvSpPr>
          <p:cNvPr id="6" name="TextBox 5"/>
          <p:cNvSpPr txBox="1"/>
          <p:nvPr/>
        </p:nvSpPr>
        <p:spPr>
          <a:xfrm>
            <a:off x="548640" y="841248"/>
            <a:ext cx="11094415" cy="256032"/>
          </a:xfrm>
          <a:prstGeom prst="rect">
            <a:avLst/>
          </a:prstGeom>
          <a:noFill/>
        </p:spPr>
        <p:txBody>
          <a:bodyPr wrap="none">
            <a:spAutoFit/>
          </a:bodyPr>
          <a:lstStyle/>
          <a:p>
            <a:pPr algn="l"/>
            <a:r>
              <a:rPr sz="1250" b="0">
                <a:solidFill>
                  <a:srgbClr val="64748B"/>
                </a:solidFill>
                <a:latin typeface="Segoe UI"/>
              </a:rPr>
              <a:t>Xác định hướng vệ tinh thời gian thực từ ảnh bầu trời sao</a:t>
            </a:r>
          </a:p>
        </p:txBody>
      </p:sp>
      <p:sp>
        <p:nvSpPr>
          <p:cNvPr id="7" name="Rectangle 6"/>
          <p:cNvSpPr/>
          <p:nvPr/>
        </p:nvSpPr>
        <p:spPr>
          <a:xfrm>
            <a:off x="548640" y="1115568"/>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261872"/>
            <a:ext cx="6263640" cy="1481328"/>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261872"/>
            <a:ext cx="626364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408175"/>
            <a:ext cx="1097280"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THÁCH THỨC</a:t>
            </a:r>
          </a:p>
        </p:txBody>
      </p:sp>
      <p:sp>
        <p:nvSpPr>
          <p:cNvPr id="11" name="TextBox 10"/>
          <p:cNvSpPr txBox="1"/>
          <p:nvPr/>
        </p:nvSpPr>
        <p:spPr>
          <a:xfrm>
            <a:off x="731520" y="1664207"/>
            <a:ext cx="5897879" cy="1024128"/>
          </a:xfrm>
          <a:prstGeom prst="rect">
            <a:avLst/>
          </a:prstGeom>
          <a:noFill/>
        </p:spPr>
        <p:txBody>
          <a:bodyPr wrap="square">
            <a:spAutoFit/>
          </a:bodyPr>
          <a:lstStyle/>
          <a:p>
            <a:r>
              <a:rPr sz="1350" b="1">
                <a:solidFill>
                  <a:srgbClr val="133E68"/>
                </a:solidFill>
                <a:latin typeface="Segoe UI"/>
              </a:rPr>
              <a:t>Không biết hướng nhìn (Lost-in-Space)</a:t>
            </a:r>
          </a:p>
          <a:p>
            <a:pPr>
              <a:spcBef>
                <a:spcPts val="400"/>
              </a:spcBef>
            </a:pPr>
            <a:r>
              <a:rPr sz="1150" b="0">
                <a:solidFill>
                  <a:srgbClr val="1E293B"/>
                </a:solidFill>
                <a:latin typeface="Segoe UI"/>
              </a:rPr>
              <a:t>• Máy ảnh nhìn bầu trời sao nhưng chưa biết hướng nhìn ban đầu.
• Cần thuật toán tự hành hoàn toàn từ ảnh thô, không phụ thuộc cảm biến phụ trợ.</a:t>
            </a:r>
          </a:p>
        </p:txBody>
      </p:sp>
      <p:sp>
        <p:nvSpPr>
          <p:cNvPr id="12" name="Rounded Rectangle 11"/>
          <p:cNvSpPr/>
          <p:nvPr/>
        </p:nvSpPr>
        <p:spPr>
          <a:xfrm>
            <a:off x="548640" y="2907791"/>
            <a:ext cx="6263640" cy="1481328"/>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48640" y="2907791"/>
            <a:ext cx="6263640" cy="73152"/>
          </a:xfrm>
          <a:prstGeom prst="roundRect">
            <a:avLst>
              <a:gd name="adj" fmla="val 40000"/>
            </a:avLst>
          </a:prstGeom>
          <a:solidFill>
            <a:srgbClr val="E0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1520" y="3054096"/>
            <a:ext cx="1796796" cy="201168"/>
          </a:xfrm>
          <a:prstGeom prst="roundRect">
            <a:avLst>
              <a:gd name="adj" fmla="val 40000"/>
            </a:avLst>
          </a:prstGeom>
          <a:solidFill>
            <a:srgbClr val="FFF2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E05A1F"/>
                </a:solidFill>
                <a:latin typeface="Segoe UI"/>
              </a:rPr>
              <a:t>NGUYÊN LÝ &amp; CATALOG</a:t>
            </a:r>
          </a:p>
        </p:txBody>
      </p:sp>
      <p:sp>
        <p:nvSpPr>
          <p:cNvPr id="15" name="TextBox 14"/>
          <p:cNvSpPr txBox="1"/>
          <p:nvPr/>
        </p:nvSpPr>
        <p:spPr>
          <a:xfrm>
            <a:off x="731520" y="3310127"/>
            <a:ext cx="5897879" cy="1024128"/>
          </a:xfrm>
          <a:prstGeom prst="rect">
            <a:avLst/>
          </a:prstGeom>
          <a:noFill/>
        </p:spPr>
        <p:txBody>
          <a:bodyPr wrap="square">
            <a:spAutoFit/>
          </a:bodyPr>
          <a:lstStyle/>
          <a:p>
            <a:r>
              <a:rPr sz="1350" b="1">
                <a:solidFill>
                  <a:srgbClr val="E05A1F"/>
                </a:solidFill>
                <a:latin typeface="Segoe UI"/>
              </a:rPr>
              <a:t>Nhận dạng góc sao · Yale BSC5 (5023 sao)</a:t>
            </a:r>
          </a:p>
          <a:p>
            <a:pPr>
              <a:spcBef>
                <a:spcPts val="400"/>
              </a:spcBef>
            </a:pPr>
            <a:r>
              <a:rPr sz="1150" b="0">
                <a:solidFill>
                  <a:srgbClr val="1E293B"/>
                </a:solidFill>
                <a:latin typeface="Segoe UI"/>
              </a:rPr>
              <a:t>• Nhận dạng hình học góc giữa các sao trên catalog Yale BSC5 (V ≤ 6, 5023 sao).
• Khoảng cách góc giữa các cặp sao là đại lượng bất biến với mọi phép quay.</a:t>
            </a:r>
          </a:p>
        </p:txBody>
      </p:sp>
      <p:sp>
        <p:nvSpPr>
          <p:cNvPr id="16" name="Rounded Rectangle 15"/>
          <p:cNvSpPr/>
          <p:nvPr/>
        </p:nvSpPr>
        <p:spPr>
          <a:xfrm>
            <a:off x="548640" y="4553712"/>
            <a:ext cx="6263640" cy="1481328"/>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48640" y="4553712"/>
            <a:ext cx="626364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31520" y="4700016"/>
            <a:ext cx="2340864"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CHUẨN ĐẦU RA &amp; QUY TẮC LAI</a:t>
            </a:r>
          </a:p>
        </p:txBody>
      </p:sp>
      <p:sp>
        <p:nvSpPr>
          <p:cNvPr id="19" name="TextBox 18"/>
          <p:cNvSpPr txBox="1"/>
          <p:nvPr/>
        </p:nvSpPr>
        <p:spPr>
          <a:xfrm>
            <a:off x="731520" y="4956048"/>
            <a:ext cx="5897879" cy="1024128"/>
          </a:xfrm>
          <a:prstGeom prst="rect">
            <a:avLst/>
          </a:prstGeom>
          <a:noFill/>
        </p:spPr>
        <p:txBody>
          <a:bodyPr wrap="square">
            <a:spAutoFit/>
          </a:bodyPr>
          <a:lstStyle/>
          <a:p>
            <a:r>
              <a:rPr sz="1350" b="1">
                <a:solidFill>
                  <a:srgbClr val="133E68"/>
                </a:solidFill>
                <a:latin typeface="Segoe UI"/>
              </a:rPr>
              <a:t>Quaternion J2000 (16 byte) · Quy tắc lai</a:t>
            </a:r>
          </a:p>
          <a:p>
            <a:pPr>
              <a:spcBef>
                <a:spcPts val="400"/>
              </a:spcBef>
            </a:pPr>
            <a:r>
              <a:rPr sz="1150" b="0">
                <a:solidFill>
                  <a:srgbClr val="1E293B"/>
                </a:solidFill>
                <a:latin typeface="Segoe UI"/>
              </a:rPr>
              <a:t>• Quaternion J2000: bốn số thực. Mặc định dùng tâm cổ điển; mạng chỉ thay bước tìm tâm.
• Đầu ra quaternion J2000 gồm 4 số thực (16 byte) chuẩn hóa cho ADCS.</a:t>
            </a:r>
          </a:p>
        </p:txBody>
      </p:sp>
      <p:sp>
        <p:nvSpPr>
          <p:cNvPr id="20" name="Rounded Rectangle 19"/>
          <p:cNvSpPr/>
          <p:nvPr/>
        </p:nvSpPr>
        <p:spPr>
          <a:xfrm>
            <a:off x="7068312" y="1261872"/>
            <a:ext cx="4572000" cy="4773168"/>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068312" y="1261872"/>
            <a:ext cx="457200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529512" y="868680"/>
            <a:ext cx="1719072" cy="219456"/>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LUỒNG XỬ LÝ 7 BƯỚC</a:t>
            </a:r>
          </a:p>
        </p:txBody>
      </p:sp>
      <p:pic>
        <p:nvPicPr>
          <p:cNvPr id="23" name="Picture 22" descr="pipeline_vertical.png"/>
          <p:cNvPicPr>
            <a:picLocks noChangeAspect="1"/>
          </p:cNvPicPr>
          <p:nvPr/>
        </p:nvPicPr>
        <p:blipFill>
          <a:blip r:embed="rId2"/>
          <a:srcRect t="3664" b="2379"/>
          <a:stretch>
            <a:fillRect/>
          </a:stretch>
        </p:blipFill>
        <p:spPr>
          <a:xfrm>
            <a:off x="7703082" y="1383338"/>
            <a:ext cx="3330670" cy="4606139"/>
          </a:xfrm>
          <a:prstGeom prst="rect">
            <a:avLst/>
          </a:prstGeom>
        </p:spPr>
      </p:pic>
      <p:sp>
        <p:nvSpPr>
          <p:cNvPr id="24" name="Rectangle 23"/>
          <p:cNvSpPr/>
          <p:nvPr/>
        </p:nvSpPr>
        <p:spPr>
          <a:xfrm>
            <a:off x="548640" y="6364224"/>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6419088"/>
            <a:ext cx="9144000" cy="320040"/>
          </a:xfrm>
          <a:prstGeom prst="rect">
            <a:avLst/>
          </a:prstGeom>
          <a:noFill/>
        </p:spPr>
        <p:txBody>
          <a:bodyPr wrap="none">
            <a:spAutoFit/>
          </a:bodyPr>
          <a:lstStyle/>
          <a:p>
            <a:r>
              <a:rPr sz="1000" b="0">
                <a:solidFill>
                  <a:srgbClr val="64748B"/>
                </a:solidFill>
                <a:latin typeface="Segoe UI"/>
              </a:rPr>
              <a:t>Trường Đại học Bách khoa, Đại học Đà Nẵng — Khoa Công nghệ thông tin</a:t>
            </a:r>
          </a:p>
        </p:txBody>
      </p:sp>
      <p:sp>
        <p:nvSpPr>
          <p:cNvPr id="26" name="TextBox 25"/>
          <p:cNvSpPr txBox="1"/>
          <p:nvPr/>
        </p:nvSpPr>
        <p:spPr>
          <a:xfrm>
            <a:off x="9814255" y="6419088"/>
            <a:ext cx="1828800" cy="320040"/>
          </a:xfrm>
          <a:prstGeom prst="rect">
            <a:avLst/>
          </a:prstGeom>
          <a:noFill/>
        </p:spPr>
        <p:txBody>
          <a:bodyPr wrap="none">
            <a:spAutoFit/>
          </a:bodyPr>
          <a:lstStyle/>
          <a:p>
            <a:pPr algn="r"/>
            <a:r>
              <a:rPr sz="1000" b="1">
                <a:solidFill>
                  <a:srgbClr val="133E68"/>
                </a:solidFill>
                <a:latin typeface="Segoe UI"/>
              </a:rPr>
              <a:t>3 / 13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2185416" cy="237744"/>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02 | THUẬT TOÁN HỆ THỐNG</a:t>
            </a:r>
          </a:p>
        </p:txBody>
      </p:sp>
      <p:sp>
        <p:nvSpPr>
          <p:cNvPr id="5" name="TextBox 4"/>
          <p:cNvSpPr txBox="1"/>
          <p:nvPr/>
        </p:nvSpPr>
        <p:spPr>
          <a:xfrm>
            <a:off x="548640" y="475488"/>
            <a:ext cx="11094415" cy="384048"/>
          </a:xfrm>
          <a:prstGeom prst="rect">
            <a:avLst/>
          </a:prstGeom>
          <a:noFill/>
        </p:spPr>
        <p:txBody>
          <a:bodyPr wrap="square">
            <a:spAutoFit/>
          </a:bodyPr>
          <a:lstStyle/>
          <a:p>
            <a:pPr algn="l"/>
            <a:r>
              <a:rPr sz="2300" b="1">
                <a:solidFill>
                  <a:srgbClr val="133E68"/>
                </a:solidFill>
                <a:latin typeface="Segoe UI"/>
              </a:rPr>
              <a:t>2. Đường ống thuật toán</a:t>
            </a:r>
          </a:p>
        </p:txBody>
      </p:sp>
      <p:sp>
        <p:nvSpPr>
          <p:cNvPr id="6" name="TextBox 5"/>
          <p:cNvSpPr txBox="1"/>
          <p:nvPr/>
        </p:nvSpPr>
        <p:spPr>
          <a:xfrm>
            <a:off x="548640" y="841248"/>
            <a:ext cx="11094415" cy="256032"/>
          </a:xfrm>
          <a:prstGeom prst="rect">
            <a:avLst/>
          </a:prstGeom>
          <a:noFill/>
        </p:spPr>
        <p:txBody>
          <a:bodyPr wrap="none">
            <a:spAutoFit/>
          </a:bodyPr>
          <a:lstStyle/>
          <a:p>
            <a:pPr algn="l"/>
            <a:r>
              <a:rPr sz="1250" b="0">
                <a:solidFill>
                  <a:srgbClr val="64748B"/>
                </a:solidFill>
                <a:latin typeface="Segoe UI"/>
              </a:rPr>
              <a:t>Một đường ống — CNN chỉ thay bước tìm tâm</a:t>
            </a:r>
          </a:p>
        </p:txBody>
      </p:sp>
      <p:sp>
        <p:nvSpPr>
          <p:cNvPr id="7" name="Rectangle 6"/>
          <p:cNvSpPr/>
          <p:nvPr/>
        </p:nvSpPr>
        <p:spPr>
          <a:xfrm>
            <a:off x="548640" y="1115568"/>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pipeline.png"/>
          <p:cNvPicPr>
            <a:picLocks noChangeAspect="1"/>
          </p:cNvPicPr>
          <p:nvPr/>
        </p:nvPicPr>
        <p:blipFill>
          <a:blip r:embed="rId2"/>
          <a:stretch>
            <a:fillRect/>
          </a:stretch>
        </p:blipFill>
        <p:spPr>
          <a:xfrm>
            <a:off x="1194846" y="1261872"/>
            <a:ext cx="9802001" cy="2697480"/>
          </a:xfrm>
          <a:prstGeom prst="rect">
            <a:avLst/>
          </a:prstGeom>
        </p:spPr>
      </p:pic>
      <p:sp>
        <p:nvSpPr>
          <p:cNvPr id="9" name="Rounded Rectangle 8"/>
          <p:cNvSpPr/>
          <p:nvPr/>
        </p:nvSpPr>
        <p:spPr>
          <a:xfrm>
            <a:off x="548640" y="4069080"/>
            <a:ext cx="3520440" cy="214884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48640" y="4069080"/>
            <a:ext cx="352044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215384"/>
            <a:ext cx="1097280"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Bước 02</a:t>
            </a:r>
          </a:p>
        </p:txBody>
      </p:sp>
      <p:sp>
        <p:nvSpPr>
          <p:cNvPr id="12" name="TextBox 11"/>
          <p:cNvSpPr txBox="1"/>
          <p:nvPr/>
        </p:nvSpPr>
        <p:spPr>
          <a:xfrm>
            <a:off x="731520" y="4471416"/>
            <a:ext cx="3154680" cy="1691640"/>
          </a:xfrm>
          <a:prstGeom prst="rect">
            <a:avLst/>
          </a:prstGeom>
          <a:noFill/>
        </p:spPr>
        <p:txBody>
          <a:bodyPr wrap="square">
            <a:spAutoFit/>
          </a:bodyPr>
          <a:lstStyle/>
          <a:p>
            <a:r>
              <a:rPr sz="1350" b="1">
                <a:solidFill>
                  <a:srgbClr val="133E68"/>
                </a:solidFill>
                <a:latin typeface="Segoe UI"/>
              </a:rPr>
              <a:t>TÌM TÂM SAO (CENTROID)</a:t>
            </a:r>
          </a:p>
          <a:p>
            <a:pPr>
              <a:spcBef>
                <a:spcPts val="600"/>
              </a:spcBef>
            </a:pPr>
            <a:r>
              <a:rPr sz="1150" b="0">
                <a:solidFill>
                  <a:srgbClr val="1E293B"/>
                </a:solidFill>
                <a:latin typeface="Segoe UI"/>
              </a:rPr>
              <a:t>• CNN là MobileUNet công khai, ngưỡng 2,0, không huấn luyện lại.
• Mặc định dùng CoG cho ảnh sạch để đạt RMSE thấp nhất.
• CNN là tùy chọn chuyên dụng khi xuất hiện ánh sáng lạc/địa hình.</a:t>
            </a:r>
          </a:p>
        </p:txBody>
      </p:sp>
      <p:sp>
        <p:nvSpPr>
          <p:cNvPr id="13" name="Rounded Rectangle 12"/>
          <p:cNvSpPr/>
          <p:nvPr/>
        </p:nvSpPr>
        <p:spPr>
          <a:xfrm>
            <a:off x="4334255" y="4069080"/>
            <a:ext cx="3520440" cy="214884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334255" y="4069080"/>
            <a:ext cx="352044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517136" y="4215384"/>
            <a:ext cx="1097280"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Bước 03</a:t>
            </a:r>
          </a:p>
        </p:txBody>
      </p:sp>
      <p:sp>
        <p:nvSpPr>
          <p:cNvPr id="16" name="TextBox 15"/>
          <p:cNvSpPr txBox="1"/>
          <p:nvPr/>
        </p:nvSpPr>
        <p:spPr>
          <a:xfrm>
            <a:off x="4517136" y="4471416"/>
            <a:ext cx="3154680" cy="1691640"/>
          </a:xfrm>
          <a:prstGeom prst="rect">
            <a:avLst/>
          </a:prstGeom>
          <a:noFill/>
        </p:spPr>
        <p:txBody>
          <a:bodyPr wrap="square">
            <a:spAutoFit/>
          </a:bodyPr>
          <a:lstStyle/>
          <a:p>
            <a:r>
              <a:rPr sz="1350" b="1">
                <a:solidFill>
                  <a:srgbClr val="133E68"/>
                </a:solidFill>
                <a:latin typeface="Segoe UI"/>
              </a:rPr>
              <a:t>NHẬN DẠNG SAO (PYRAMID)</a:t>
            </a:r>
          </a:p>
          <a:p>
            <a:pPr>
              <a:spcBef>
                <a:spcPts val="600"/>
              </a:spcBef>
            </a:pPr>
            <a:r>
              <a:rPr sz="1150" b="0">
                <a:solidFill>
                  <a:srgbClr val="1E293B"/>
                </a:solidFill>
                <a:latin typeface="Segoe UI"/>
              </a:rPr>
              <a:t>• Nhận dạng Pyramid và bảng K-vector trên Yale BSC5, V ≤ 6, 5023 sao.
• Tra cứu khoảng cách góc O(1) tức thời từ bảng K-vector tạo sẵn.
• Nhận dạng hình học tứ giác sao với độ tin cậy tuyệt đối.</a:t>
            </a:r>
          </a:p>
        </p:txBody>
      </p:sp>
      <p:sp>
        <p:nvSpPr>
          <p:cNvPr id="17" name="Rounded Rectangle 16"/>
          <p:cNvSpPr/>
          <p:nvPr/>
        </p:nvSpPr>
        <p:spPr>
          <a:xfrm>
            <a:off x="8119871" y="4069080"/>
            <a:ext cx="3520440" cy="214884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119871" y="4069080"/>
            <a:ext cx="3520440" cy="73152"/>
          </a:xfrm>
          <a:prstGeom prst="roundRect">
            <a:avLst>
              <a:gd name="adj" fmla="val 40000"/>
            </a:avLst>
          </a:prstGeom>
          <a:solidFill>
            <a:srgbClr val="E0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302751" y="4215384"/>
            <a:ext cx="1252728" cy="201168"/>
          </a:xfrm>
          <a:prstGeom prst="roundRect">
            <a:avLst>
              <a:gd name="adj" fmla="val 40000"/>
            </a:avLst>
          </a:prstGeom>
          <a:solidFill>
            <a:srgbClr val="FFF2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E05A1F"/>
                </a:solidFill>
                <a:latin typeface="Segoe UI"/>
              </a:rPr>
              <a:t>Bước 04 &amp; 05</a:t>
            </a:r>
          </a:p>
        </p:txBody>
      </p:sp>
      <p:sp>
        <p:nvSpPr>
          <p:cNvPr id="20" name="TextBox 19"/>
          <p:cNvSpPr txBox="1"/>
          <p:nvPr/>
        </p:nvSpPr>
        <p:spPr>
          <a:xfrm>
            <a:off x="8302751" y="4471416"/>
            <a:ext cx="3154680" cy="1691640"/>
          </a:xfrm>
          <a:prstGeom prst="rect">
            <a:avLst/>
          </a:prstGeom>
          <a:noFill/>
        </p:spPr>
        <p:txBody>
          <a:bodyPr wrap="square">
            <a:spAutoFit/>
          </a:bodyPr>
          <a:lstStyle/>
          <a:p>
            <a:r>
              <a:rPr sz="1350" b="1">
                <a:solidFill>
                  <a:srgbClr val="E05A1F"/>
                </a:solidFill>
                <a:latin typeface="Segoe UI"/>
              </a:rPr>
              <a:t>GIẢI TƯ THẾ (WAHBA)</a:t>
            </a:r>
          </a:p>
          <a:p>
            <a:pPr>
              <a:spcBef>
                <a:spcPts val="600"/>
              </a:spcBef>
            </a:pPr>
            <a:r>
              <a:rPr sz="1150" b="0">
                <a:solidFill>
                  <a:srgbClr val="1E293B"/>
                </a:solidFill>
                <a:latin typeface="Segoe UI"/>
              </a:rPr>
              <a:t>• Wahba SVD hoặc QUEST cho ra quaternion J2000, 16 byte.
• Tìm nghiệm ma trận xoay tối ưu hóa sai số góc bình phương cực tiểu.
• Sai số góc đạt dưới 1 giây cung trên ảnh sạch.</a:t>
            </a:r>
          </a:p>
        </p:txBody>
      </p:sp>
      <p:sp>
        <p:nvSpPr>
          <p:cNvPr id="21" name="Rectangle 20"/>
          <p:cNvSpPr/>
          <p:nvPr/>
        </p:nvSpPr>
        <p:spPr>
          <a:xfrm>
            <a:off x="548640" y="6364224"/>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6419088"/>
            <a:ext cx="9144000" cy="320040"/>
          </a:xfrm>
          <a:prstGeom prst="rect">
            <a:avLst/>
          </a:prstGeom>
          <a:noFill/>
        </p:spPr>
        <p:txBody>
          <a:bodyPr wrap="none">
            <a:spAutoFit/>
          </a:bodyPr>
          <a:lstStyle/>
          <a:p>
            <a:r>
              <a:rPr sz="1000" b="0">
                <a:solidFill>
                  <a:srgbClr val="64748B"/>
                </a:solidFill>
                <a:latin typeface="Segoe UI"/>
              </a:rPr>
              <a:t>Trường Đại học Bách khoa, Đại học Đà Nẵng — Khoa Công nghệ thông tin</a:t>
            </a:r>
          </a:p>
        </p:txBody>
      </p:sp>
      <p:sp>
        <p:nvSpPr>
          <p:cNvPr id="23" name="TextBox 22"/>
          <p:cNvSpPr txBox="1"/>
          <p:nvPr/>
        </p:nvSpPr>
        <p:spPr>
          <a:xfrm>
            <a:off x="9814255" y="6419088"/>
            <a:ext cx="1828800" cy="320040"/>
          </a:xfrm>
          <a:prstGeom prst="rect">
            <a:avLst/>
          </a:prstGeom>
          <a:noFill/>
        </p:spPr>
        <p:txBody>
          <a:bodyPr wrap="none">
            <a:spAutoFit/>
          </a:bodyPr>
          <a:lstStyle/>
          <a:p>
            <a:pPr algn="r"/>
            <a:r>
              <a:rPr sz="1000" b="1">
                <a:solidFill>
                  <a:srgbClr val="133E68"/>
                </a:solidFill>
                <a:latin typeface="Segoe UI"/>
              </a:rPr>
              <a:t>4 / 13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2107692" cy="237744"/>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03 | THÔNG SỐ QUANG HỌC</a:t>
            </a:r>
          </a:p>
        </p:txBody>
      </p:sp>
      <p:sp>
        <p:nvSpPr>
          <p:cNvPr id="5" name="TextBox 4"/>
          <p:cNvSpPr txBox="1"/>
          <p:nvPr/>
        </p:nvSpPr>
        <p:spPr>
          <a:xfrm>
            <a:off x="548640" y="475488"/>
            <a:ext cx="11094415" cy="384048"/>
          </a:xfrm>
          <a:prstGeom prst="rect">
            <a:avLst/>
          </a:prstGeom>
          <a:noFill/>
        </p:spPr>
        <p:txBody>
          <a:bodyPr wrap="square">
            <a:spAutoFit/>
          </a:bodyPr>
          <a:lstStyle/>
          <a:p>
            <a:pPr algn="l"/>
            <a:r>
              <a:rPr sz="2300" b="1">
                <a:solidFill>
                  <a:srgbClr val="133E68"/>
                </a:solidFill>
                <a:latin typeface="Segoe UI"/>
              </a:rPr>
              <a:t>3. Hình học camera / bộ đo 1024</a:t>
            </a:r>
          </a:p>
        </p:txBody>
      </p:sp>
      <p:sp>
        <p:nvSpPr>
          <p:cNvPr id="6" name="TextBox 5"/>
          <p:cNvSpPr txBox="1"/>
          <p:nvPr/>
        </p:nvSpPr>
        <p:spPr>
          <a:xfrm>
            <a:off x="548640" y="841248"/>
            <a:ext cx="11094415" cy="256032"/>
          </a:xfrm>
          <a:prstGeom prst="rect">
            <a:avLst/>
          </a:prstGeom>
          <a:noFill/>
        </p:spPr>
        <p:txBody>
          <a:bodyPr wrap="none">
            <a:spAutoFit/>
          </a:bodyPr>
          <a:lstStyle/>
          <a:p>
            <a:pPr algn="l"/>
            <a:r>
              <a:rPr sz="1250" b="0">
                <a:solidFill>
                  <a:srgbClr val="64748B"/>
                </a:solidFill>
                <a:latin typeface="Segoe UI"/>
              </a:rPr>
              <a:t>Thông số quang học kính demo và chuẩn hóa khung đo thực nghiệm</a:t>
            </a:r>
          </a:p>
        </p:txBody>
      </p:sp>
      <p:sp>
        <p:nvSpPr>
          <p:cNvPr id="7" name="Rectangle 6"/>
          <p:cNvSpPr/>
          <p:nvPr/>
        </p:nvSpPr>
        <p:spPr>
          <a:xfrm>
            <a:off x="548640" y="1115568"/>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261872"/>
            <a:ext cx="6217920" cy="484632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amera_geometry.png"/>
          <p:cNvPicPr>
            <a:picLocks noChangeAspect="1"/>
          </p:cNvPicPr>
          <p:nvPr/>
        </p:nvPicPr>
        <p:blipFill>
          <a:blip r:embed="rId2"/>
          <a:stretch>
            <a:fillRect/>
          </a:stretch>
        </p:blipFill>
        <p:spPr>
          <a:xfrm>
            <a:off x="685800" y="1692470"/>
            <a:ext cx="5943600" cy="3930259"/>
          </a:xfrm>
          <a:prstGeom prst="rect">
            <a:avLst/>
          </a:prstGeom>
        </p:spPr>
      </p:pic>
      <p:sp>
        <p:nvSpPr>
          <p:cNvPr id="10" name="Rounded Rectangle 9"/>
          <p:cNvSpPr/>
          <p:nvPr/>
        </p:nvSpPr>
        <p:spPr>
          <a:xfrm>
            <a:off x="7022592" y="1261872"/>
            <a:ext cx="4617720" cy="228600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022592" y="1261872"/>
            <a:ext cx="461772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251192" y="1408176"/>
            <a:ext cx="1485900" cy="219456"/>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CẤU HÌNH VẬT LÝ</a:t>
            </a:r>
          </a:p>
        </p:txBody>
      </p:sp>
      <p:sp>
        <p:nvSpPr>
          <p:cNvPr id="13" name="TextBox 12"/>
          <p:cNvSpPr txBox="1"/>
          <p:nvPr/>
        </p:nvSpPr>
        <p:spPr>
          <a:xfrm>
            <a:off x="7251192" y="1691640"/>
            <a:ext cx="4160520" cy="1737360"/>
          </a:xfrm>
          <a:prstGeom prst="rect">
            <a:avLst/>
          </a:prstGeom>
          <a:noFill/>
        </p:spPr>
        <p:txBody>
          <a:bodyPr wrap="square">
            <a:spAutoFit/>
          </a:bodyPr>
          <a:lstStyle/>
          <a:p>
            <a:r>
              <a:rPr sz="1600" b="1">
                <a:solidFill>
                  <a:srgbClr val="133E68"/>
                </a:solidFill>
                <a:latin typeface="Segoe UI"/>
              </a:rPr>
              <a:t>Kính demo APS-C (24 MP)</a:t>
            </a:r>
          </a:p>
          <a:p>
            <a:pPr>
              <a:spcBef>
                <a:spcPts val="600"/>
              </a:spcBef>
            </a:pPr>
            <a:r>
              <a:rPr sz="1250" b="0">
                <a:solidFill>
                  <a:srgbClr val="1E293B"/>
                </a:solidFill>
                <a:latin typeface="Segoe UI"/>
              </a:rPr>
              <a:t>• Độ phân giải cảm biến: 6000 × 4000 px
• Kích thước pixel vật lý: p = 3,72 µm
• Tiêu cự hệ thống quang học: f = 50 mm
• Trường nhìn (FOV): ≈ 25,16° × 16,93°
• Kính demo: khoảng 15,3″ / pixel</a:t>
            </a:r>
          </a:p>
        </p:txBody>
      </p:sp>
      <p:sp>
        <p:nvSpPr>
          <p:cNvPr id="14" name="Rounded Rectangle 13"/>
          <p:cNvSpPr/>
          <p:nvPr/>
        </p:nvSpPr>
        <p:spPr>
          <a:xfrm>
            <a:off x="7022592" y="3703320"/>
            <a:ext cx="4617720" cy="242316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022592" y="3703320"/>
            <a:ext cx="4617720" cy="73152"/>
          </a:xfrm>
          <a:prstGeom prst="roundRect">
            <a:avLst>
              <a:gd name="adj" fmla="val 40000"/>
            </a:avLst>
          </a:prstGeom>
          <a:solidFill>
            <a:srgbClr val="E0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251192" y="3849624"/>
            <a:ext cx="1641348" cy="219456"/>
          </a:xfrm>
          <a:prstGeom prst="roundRect">
            <a:avLst>
              <a:gd name="adj" fmla="val 40000"/>
            </a:avLst>
          </a:prstGeom>
          <a:solidFill>
            <a:srgbClr val="FFF2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E05A1F"/>
                </a:solidFill>
                <a:latin typeface="Segoe UI"/>
              </a:rPr>
              <a:t>CHUẨN THỰC NGHIỆM</a:t>
            </a:r>
          </a:p>
        </p:txBody>
      </p:sp>
      <p:sp>
        <p:nvSpPr>
          <p:cNvPr id="17" name="TextBox 16"/>
          <p:cNvSpPr txBox="1"/>
          <p:nvPr/>
        </p:nvSpPr>
        <p:spPr>
          <a:xfrm>
            <a:off x="7251192" y="4133087"/>
            <a:ext cx="4160520" cy="1874519"/>
          </a:xfrm>
          <a:prstGeom prst="rect">
            <a:avLst/>
          </a:prstGeom>
          <a:noFill/>
        </p:spPr>
        <p:txBody>
          <a:bodyPr wrap="square">
            <a:spAutoFit/>
          </a:bodyPr>
          <a:lstStyle/>
          <a:p>
            <a:r>
              <a:rPr sz="1600" b="1">
                <a:solidFill>
                  <a:srgbClr val="E05A1F"/>
                </a:solidFill>
                <a:latin typeface="Segoe UI"/>
              </a:rPr>
              <a:t>Khung đo 1024×683 (Benchmark)</a:t>
            </a:r>
          </a:p>
          <a:p>
            <a:pPr>
              <a:spcBef>
                <a:spcPts val="600"/>
              </a:spcBef>
            </a:pPr>
            <a:r>
              <a:rPr sz="1250" b="0">
                <a:solidFill>
                  <a:srgbClr val="1E293B"/>
                </a:solidFill>
                <a:latin typeface="Segoe UI"/>
              </a:rPr>
              <a:t>• Độ phân giải thử nghiệm: 1024 × 683 px
• Cùng trường nhìn (FOV) với kính demo
• Khung đo 1024×683: khoảng 89,9″ / pixel
• Cùng trường nhìn, để đo 500 khung sạch &amp; 40 khung lóa
• Máy đo: NVIDIA GeForce RTX 5070 Laptop GPU</a:t>
            </a:r>
          </a:p>
        </p:txBody>
      </p:sp>
      <p:sp>
        <p:nvSpPr>
          <p:cNvPr id="18" name="Rectangle 17"/>
          <p:cNvSpPr/>
          <p:nvPr/>
        </p:nvSpPr>
        <p:spPr>
          <a:xfrm>
            <a:off x="548640" y="6364224"/>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6419088"/>
            <a:ext cx="9144000" cy="320040"/>
          </a:xfrm>
          <a:prstGeom prst="rect">
            <a:avLst/>
          </a:prstGeom>
          <a:noFill/>
        </p:spPr>
        <p:txBody>
          <a:bodyPr wrap="none">
            <a:spAutoFit/>
          </a:bodyPr>
          <a:lstStyle/>
          <a:p>
            <a:r>
              <a:rPr sz="1000" b="0">
                <a:solidFill>
                  <a:srgbClr val="64748B"/>
                </a:solidFill>
                <a:latin typeface="Segoe UI"/>
              </a:rPr>
              <a:t>Trường Đại học Bách khoa, Đại học Đà Nẵng — Khoa Công nghệ thông tin</a:t>
            </a:r>
          </a:p>
        </p:txBody>
      </p:sp>
      <p:sp>
        <p:nvSpPr>
          <p:cNvPr id="20" name="TextBox 19"/>
          <p:cNvSpPr txBox="1"/>
          <p:nvPr/>
        </p:nvSpPr>
        <p:spPr>
          <a:xfrm>
            <a:off x="9814255" y="6419088"/>
            <a:ext cx="1828800" cy="320040"/>
          </a:xfrm>
          <a:prstGeom prst="rect">
            <a:avLst/>
          </a:prstGeom>
          <a:noFill/>
        </p:spPr>
        <p:txBody>
          <a:bodyPr wrap="none">
            <a:spAutoFit/>
          </a:bodyPr>
          <a:lstStyle/>
          <a:p>
            <a:pPr algn="r"/>
            <a:r>
              <a:rPr sz="1000" b="1">
                <a:solidFill>
                  <a:srgbClr val="133E68"/>
                </a:solidFill>
                <a:latin typeface="Segoe UI"/>
              </a:rPr>
              <a:t>5 / 13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2185416" cy="237744"/>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04 | DỮ LIỆU THỰC NGHIỆM</a:t>
            </a:r>
          </a:p>
        </p:txBody>
      </p:sp>
      <p:sp>
        <p:nvSpPr>
          <p:cNvPr id="5" name="TextBox 4"/>
          <p:cNvSpPr txBox="1"/>
          <p:nvPr/>
        </p:nvSpPr>
        <p:spPr>
          <a:xfrm>
            <a:off x="548640" y="475488"/>
            <a:ext cx="11094415" cy="384048"/>
          </a:xfrm>
          <a:prstGeom prst="rect">
            <a:avLst/>
          </a:prstGeom>
          <a:noFill/>
        </p:spPr>
        <p:txBody>
          <a:bodyPr wrap="square">
            <a:spAutoFit/>
          </a:bodyPr>
          <a:lstStyle/>
          <a:p>
            <a:pPr algn="l"/>
            <a:r>
              <a:rPr sz="2300" b="1">
                <a:solidFill>
                  <a:srgbClr val="133E68"/>
                </a:solidFill>
                <a:latin typeface="Segoe UI"/>
              </a:rPr>
              <a:t>4. Một khung sao giả lập</a:t>
            </a:r>
          </a:p>
        </p:txBody>
      </p:sp>
      <p:sp>
        <p:nvSpPr>
          <p:cNvPr id="6" name="TextBox 5"/>
          <p:cNvSpPr txBox="1"/>
          <p:nvPr/>
        </p:nvSpPr>
        <p:spPr>
          <a:xfrm>
            <a:off x="548640" y="841248"/>
            <a:ext cx="11094415" cy="256032"/>
          </a:xfrm>
          <a:prstGeom prst="rect">
            <a:avLst/>
          </a:prstGeom>
          <a:noFill/>
        </p:spPr>
        <p:txBody>
          <a:bodyPr wrap="none">
            <a:spAutoFit/>
          </a:bodyPr>
          <a:lstStyle/>
          <a:p>
            <a:pPr algn="l"/>
            <a:r>
              <a:rPr sz="1250" b="0">
                <a:solidFill>
                  <a:srgbClr val="64748B"/>
                </a:solidFill>
                <a:latin typeface="Segoe UI"/>
              </a:rPr>
              <a:t>1024×683 · cùng trường nhìn với kính demo</a:t>
            </a:r>
          </a:p>
        </p:txBody>
      </p:sp>
      <p:sp>
        <p:nvSpPr>
          <p:cNvPr id="7" name="Rectangle 6"/>
          <p:cNvSpPr/>
          <p:nvPr/>
        </p:nvSpPr>
        <p:spPr>
          <a:xfrm>
            <a:off x="548640" y="1115568"/>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261872"/>
            <a:ext cx="6949440" cy="4846320"/>
          </a:xfrm>
          <a:prstGeom prst="roundRect">
            <a:avLst>
              <a:gd name="adj" fmla="val 5000"/>
            </a:avLst>
          </a:prstGeom>
          <a:solidFill>
            <a:srgbClr val="050C18"/>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tarfield_hd1024.png"/>
          <p:cNvPicPr>
            <a:picLocks noChangeAspect="1"/>
          </p:cNvPicPr>
          <p:nvPr/>
        </p:nvPicPr>
        <p:blipFill>
          <a:blip r:embed="rId2"/>
          <a:stretch>
            <a:fillRect/>
          </a:stretch>
        </p:blipFill>
        <p:spPr>
          <a:xfrm>
            <a:off x="685800" y="1459992"/>
            <a:ext cx="6675120" cy="4450080"/>
          </a:xfrm>
          <a:prstGeom prst="rect">
            <a:avLst/>
          </a:prstGeom>
        </p:spPr>
      </p:pic>
      <p:sp>
        <p:nvSpPr>
          <p:cNvPr id="10" name="Rounded Rectangle 9"/>
          <p:cNvSpPr/>
          <p:nvPr/>
        </p:nvSpPr>
        <p:spPr>
          <a:xfrm>
            <a:off x="7754112" y="1261872"/>
            <a:ext cx="3886200" cy="1536192"/>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754112" y="1261872"/>
            <a:ext cx="388620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936992" y="1399031"/>
            <a:ext cx="1485900"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QUY MÔ MÔ PHỎNG</a:t>
            </a:r>
          </a:p>
        </p:txBody>
      </p:sp>
      <p:sp>
        <p:nvSpPr>
          <p:cNvPr id="13" name="TextBox 12"/>
          <p:cNvSpPr txBox="1"/>
          <p:nvPr/>
        </p:nvSpPr>
        <p:spPr>
          <a:xfrm>
            <a:off x="7936992" y="1645919"/>
            <a:ext cx="3520440" cy="1097280"/>
          </a:xfrm>
          <a:prstGeom prst="rect">
            <a:avLst/>
          </a:prstGeom>
          <a:noFill/>
        </p:spPr>
        <p:txBody>
          <a:bodyPr wrap="square">
            <a:spAutoFit/>
          </a:bodyPr>
          <a:lstStyle/>
          <a:p>
            <a:r>
              <a:rPr sz="1350" b="1">
                <a:solidFill>
                  <a:srgbClr val="133E68"/>
                </a:solidFill>
                <a:latin typeface="Segoe UI"/>
              </a:rPr>
              <a:t>1024×683 px · Cùng trường nhìn</a:t>
            </a:r>
          </a:p>
          <a:p>
            <a:pPr>
              <a:spcBef>
                <a:spcPts val="400"/>
              </a:spcBef>
            </a:pPr>
            <a:r>
              <a:rPr sz="1150" b="0">
                <a:solidFill>
                  <a:srgbClr val="1E293B"/>
                </a:solidFill>
                <a:latin typeface="Segoe UI"/>
              </a:rPr>
              <a:t>Mô phỏng trường sao theo catalog Yale BSC5 với cùng trường nhìn (FOV 25,16° × 16,93°) của kính demo.</a:t>
            </a:r>
          </a:p>
        </p:txBody>
      </p:sp>
      <p:sp>
        <p:nvSpPr>
          <p:cNvPr id="14" name="Rounded Rectangle 13"/>
          <p:cNvSpPr/>
          <p:nvPr/>
        </p:nvSpPr>
        <p:spPr>
          <a:xfrm>
            <a:off x="7754112" y="2907791"/>
            <a:ext cx="3886200" cy="1536192"/>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754112" y="2907791"/>
            <a:ext cx="388620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936992" y="3044951"/>
            <a:ext cx="1874520"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TÍN HIỆU &amp; QUANG SAI</a:t>
            </a:r>
          </a:p>
        </p:txBody>
      </p:sp>
      <p:sp>
        <p:nvSpPr>
          <p:cNvPr id="17" name="TextBox 16"/>
          <p:cNvSpPr txBox="1"/>
          <p:nvPr/>
        </p:nvSpPr>
        <p:spPr>
          <a:xfrm>
            <a:off x="7936992" y="3291839"/>
            <a:ext cx="3520440" cy="1097280"/>
          </a:xfrm>
          <a:prstGeom prst="rect">
            <a:avLst/>
          </a:prstGeom>
          <a:noFill/>
        </p:spPr>
        <p:txBody>
          <a:bodyPr wrap="square">
            <a:spAutoFit/>
          </a:bodyPr>
          <a:lstStyle/>
          <a:p>
            <a:r>
              <a:rPr sz="1350" b="1">
                <a:solidFill>
                  <a:srgbClr val="133E68"/>
                </a:solidFill>
                <a:latin typeface="Segoe UI"/>
              </a:rPr>
              <a:t>PSF Gaussian &amp; Cấp sáng V ≤ 6</a:t>
            </a:r>
          </a:p>
          <a:p>
            <a:pPr>
              <a:spcBef>
                <a:spcPts val="400"/>
              </a:spcBef>
            </a:pPr>
            <a:r>
              <a:rPr sz="1150" b="0">
                <a:solidFill>
                  <a:srgbClr val="1E293B"/>
                </a:solidFill>
                <a:latin typeface="Segoe UI"/>
              </a:rPr>
              <a:t>Tâm sao phân bố theo hàm truyền điểm sáng Gaussian. Tích hợp nhiễu photon Poisson và nhiễu đọc cảm biến sát quỹ đạo.</a:t>
            </a:r>
          </a:p>
        </p:txBody>
      </p:sp>
      <p:sp>
        <p:nvSpPr>
          <p:cNvPr id="18" name="Rounded Rectangle 17"/>
          <p:cNvSpPr/>
          <p:nvPr/>
        </p:nvSpPr>
        <p:spPr>
          <a:xfrm>
            <a:off x="7754112" y="4553712"/>
            <a:ext cx="3886200" cy="1536192"/>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754112" y="4553712"/>
            <a:ext cx="3886200" cy="73152"/>
          </a:xfrm>
          <a:prstGeom prst="roundRect">
            <a:avLst>
              <a:gd name="adj" fmla="val 40000"/>
            </a:avLst>
          </a:prstGeom>
          <a:solidFill>
            <a:srgbClr val="E0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936992" y="4690872"/>
            <a:ext cx="1719072" cy="201168"/>
          </a:xfrm>
          <a:prstGeom prst="roundRect">
            <a:avLst>
              <a:gd name="adj" fmla="val 40000"/>
            </a:avLst>
          </a:prstGeom>
          <a:solidFill>
            <a:srgbClr val="FFF2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E05A1F"/>
                </a:solidFill>
                <a:latin typeface="Segoe UI"/>
              </a:rPr>
              <a:t>CHUẨN ĐO LƯỜNG TÂM</a:t>
            </a:r>
          </a:p>
        </p:txBody>
      </p:sp>
      <p:sp>
        <p:nvSpPr>
          <p:cNvPr id="21" name="TextBox 20"/>
          <p:cNvSpPr txBox="1"/>
          <p:nvPr/>
        </p:nvSpPr>
        <p:spPr>
          <a:xfrm>
            <a:off x="7936992" y="4937760"/>
            <a:ext cx="3520440" cy="1097280"/>
          </a:xfrm>
          <a:prstGeom prst="rect">
            <a:avLst/>
          </a:prstGeom>
          <a:noFill/>
        </p:spPr>
        <p:txBody>
          <a:bodyPr wrap="square">
            <a:spAutoFit/>
          </a:bodyPr>
          <a:lstStyle/>
          <a:p>
            <a:r>
              <a:rPr sz="1350" b="1">
                <a:solidFill>
                  <a:srgbClr val="E05A1F"/>
                </a:solidFill>
                <a:latin typeface="Segoe UI"/>
              </a:rPr>
              <a:t>500 Khung đo kiểm chuẩn</a:t>
            </a:r>
          </a:p>
          <a:p>
            <a:pPr>
              <a:spcBef>
                <a:spcPts val="400"/>
              </a:spcBef>
            </a:pPr>
            <a:r>
              <a:rPr sz="1150" b="0">
                <a:solidFill>
                  <a:srgbClr val="1E293B"/>
                </a:solidFill>
                <a:latin typeface="Segoe UI"/>
              </a:rPr>
              <a:t>Tập dữ liệu sạch dùng để đối chiếu độ chính xác sai số vị trí tâm sao (RMSE) giữa CoG và mạng CNN MobileUNet.</a:t>
            </a:r>
          </a:p>
        </p:txBody>
      </p:sp>
      <p:sp>
        <p:nvSpPr>
          <p:cNvPr id="22" name="Rectangle 21"/>
          <p:cNvSpPr/>
          <p:nvPr/>
        </p:nvSpPr>
        <p:spPr>
          <a:xfrm>
            <a:off x="548640" y="6364224"/>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6419088"/>
            <a:ext cx="9144000" cy="320040"/>
          </a:xfrm>
          <a:prstGeom prst="rect">
            <a:avLst/>
          </a:prstGeom>
          <a:noFill/>
        </p:spPr>
        <p:txBody>
          <a:bodyPr wrap="none">
            <a:spAutoFit/>
          </a:bodyPr>
          <a:lstStyle/>
          <a:p>
            <a:r>
              <a:rPr sz="1000" b="0">
                <a:solidFill>
                  <a:srgbClr val="64748B"/>
                </a:solidFill>
                <a:latin typeface="Segoe UI"/>
              </a:rPr>
              <a:t>Trường Đại học Bách khoa, Đại học Đà Nẵng — Khoa Công nghệ thông tin</a:t>
            </a:r>
          </a:p>
        </p:txBody>
      </p:sp>
      <p:sp>
        <p:nvSpPr>
          <p:cNvPr id="24" name="TextBox 23"/>
          <p:cNvSpPr txBox="1"/>
          <p:nvPr/>
        </p:nvSpPr>
        <p:spPr>
          <a:xfrm>
            <a:off x="9814255" y="6419088"/>
            <a:ext cx="1828800" cy="320040"/>
          </a:xfrm>
          <a:prstGeom prst="rect">
            <a:avLst/>
          </a:prstGeom>
          <a:noFill/>
        </p:spPr>
        <p:txBody>
          <a:bodyPr wrap="none">
            <a:spAutoFit/>
          </a:bodyPr>
          <a:lstStyle/>
          <a:p>
            <a:pPr algn="r"/>
            <a:r>
              <a:rPr sz="1000" b="1">
                <a:solidFill>
                  <a:srgbClr val="133E68"/>
                </a:solidFill>
                <a:latin typeface="Segoe UI"/>
              </a:rPr>
              <a:t>6 / 13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952244" cy="237744"/>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05 | KẾT QUẢ ĐO LƯỜNG</a:t>
            </a:r>
          </a:p>
        </p:txBody>
      </p:sp>
      <p:sp>
        <p:nvSpPr>
          <p:cNvPr id="5" name="TextBox 4"/>
          <p:cNvSpPr txBox="1"/>
          <p:nvPr/>
        </p:nvSpPr>
        <p:spPr>
          <a:xfrm>
            <a:off x="548640" y="475488"/>
            <a:ext cx="11094415" cy="384048"/>
          </a:xfrm>
          <a:prstGeom prst="rect">
            <a:avLst/>
          </a:prstGeom>
          <a:noFill/>
        </p:spPr>
        <p:txBody>
          <a:bodyPr wrap="square">
            <a:spAutoFit/>
          </a:bodyPr>
          <a:lstStyle/>
          <a:p>
            <a:pPr algn="l"/>
            <a:r>
              <a:rPr sz="2300" b="1">
                <a:solidFill>
                  <a:srgbClr val="133E68"/>
                </a:solidFill>
                <a:latin typeface="Segoe UI"/>
              </a:rPr>
              <a:t>5. Kết quả đo tâm sao</a:t>
            </a:r>
          </a:p>
        </p:txBody>
      </p:sp>
      <p:sp>
        <p:nvSpPr>
          <p:cNvPr id="6" name="TextBox 5"/>
          <p:cNvSpPr txBox="1"/>
          <p:nvPr/>
        </p:nvSpPr>
        <p:spPr>
          <a:xfrm>
            <a:off x="548640" y="841248"/>
            <a:ext cx="11094415" cy="256032"/>
          </a:xfrm>
          <a:prstGeom prst="rect">
            <a:avLst/>
          </a:prstGeom>
          <a:noFill/>
        </p:spPr>
        <p:txBody>
          <a:bodyPr wrap="none">
            <a:spAutoFit/>
          </a:bodyPr>
          <a:lstStyle/>
          <a:p>
            <a:pPr algn="l"/>
            <a:r>
              <a:rPr sz="1250" b="0">
                <a:solidFill>
                  <a:srgbClr val="64748B"/>
                </a:solidFill>
                <a:latin typeface="Segoe UI"/>
              </a:rPr>
              <a:t>500 khung sạch và 40 khung lóa · ngưỡng 2,0</a:t>
            </a:r>
          </a:p>
        </p:txBody>
      </p:sp>
      <p:sp>
        <p:nvSpPr>
          <p:cNvPr id="7" name="Rectangle 6"/>
          <p:cNvSpPr/>
          <p:nvPr/>
        </p:nvSpPr>
        <p:spPr>
          <a:xfrm>
            <a:off x="548640" y="1115568"/>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548640" y="1261872"/>
          <a:ext cx="11094415" cy="1783080"/>
        </p:xfrm>
        <a:graphic>
          <a:graphicData uri="http://schemas.openxmlformats.org/drawingml/2006/table">
            <a:tbl>
              <a:tblPr firstRow="1" bandRow="1">
                <a:tableStyleId>{5C22544A-7EE6-4342-B048-85BDC9FD1C3A}</a:tableStyleId>
              </a:tblPr>
              <a:tblGrid>
                <a:gridCol w="2499055">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594360">
                <a:tc>
                  <a:txBody>
                    <a:bodyPr/>
                    <a:lstStyle/>
                    <a:p>
                      <a:pPr algn="ctr"/>
                      <a:r>
                        <a:rPr sz="1300" b="1">
                          <a:solidFill>
                            <a:srgbClr val="FFFFFF"/>
                          </a:solidFill>
                          <a:latin typeface="Segoe UI"/>
                        </a:rPr>
                        <a:t>Phương pháp</a:t>
                      </a:r>
                    </a:p>
                  </a:txBody>
                  <a:tcPr>
                    <a:solidFill>
                      <a:srgbClr val="133E68"/>
                    </a:solidFill>
                  </a:tcPr>
                </a:tc>
                <a:tc>
                  <a:txBody>
                    <a:bodyPr/>
                    <a:lstStyle/>
                    <a:p>
                      <a:pPr algn="ctr"/>
                      <a:r>
                        <a:rPr sz="1300" b="1">
                          <a:solidFill>
                            <a:srgbClr val="FFFFFF"/>
                          </a:solidFill>
                          <a:latin typeface="Segoe UI"/>
                        </a:rPr>
                        <a:t>RMSE trung bình</a:t>
                      </a:r>
                    </a:p>
                  </a:txBody>
                  <a:tcPr>
                    <a:solidFill>
                      <a:srgbClr val="133E68"/>
                    </a:solidFill>
                  </a:tcPr>
                </a:tc>
                <a:tc>
                  <a:txBody>
                    <a:bodyPr/>
                    <a:lstStyle/>
                    <a:p>
                      <a:pPr algn="ctr"/>
                      <a:r>
                        <a:rPr sz="1300" b="1">
                          <a:solidFill>
                            <a:srgbClr val="FFFFFF"/>
                          </a:solidFill>
                          <a:latin typeface="Segoe UI"/>
                        </a:rPr>
                        <a:t>RMSE trung vị</a:t>
                      </a:r>
                    </a:p>
                  </a:txBody>
                  <a:tcPr>
                    <a:solidFill>
                      <a:srgbClr val="133E68"/>
                    </a:solidFill>
                  </a:tcPr>
                </a:tc>
                <a:tc>
                  <a:txBody>
                    <a:bodyPr/>
                    <a:lstStyle/>
                    <a:p>
                      <a:pPr algn="ctr"/>
                      <a:r>
                        <a:rPr sz="1300" b="1">
                          <a:solidFill>
                            <a:srgbClr val="FFFFFF"/>
                          </a:solidFill>
                          <a:latin typeface="Segoe UI"/>
                        </a:rPr>
                        <a:t>Sao khớp / GT</a:t>
                      </a:r>
                    </a:p>
                  </a:txBody>
                  <a:tcPr>
                    <a:solidFill>
                      <a:srgbClr val="133E68"/>
                    </a:solidFill>
                  </a:tcPr>
                </a:tc>
                <a:tc>
                  <a:txBody>
                    <a:bodyPr/>
                    <a:lstStyle/>
                    <a:p>
                      <a:pPr algn="ctr"/>
                      <a:r>
                        <a:rPr sz="1300" b="1">
                          <a:solidFill>
                            <a:srgbClr val="FFFFFF"/>
                          </a:solidFill>
                          <a:latin typeface="Segoe UI"/>
                        </a:rPr>
                        <a:t>Thời gian trung vị</a:t>
                      </a:r>
                    </a:p>
                  </a:txBody>
                  <a:tcPr>
                    <a:solidFill>
                      <a:srgbClr val="133E68"/>
                    </a:solidFill>
                  </a:tcPr>
                </a:tc>
                <a:extLst>
                  <a:ext uri="{0D108BD9-81ED-4DB2-BD59-A6C34878D82A}">
                    <a16:rowId xmlns:a16="http://schemas.microsoft.com/office/drawing/2014/main" val="10000"/>
                  </a:ext>
                </a:extLst>
              </a:tr>
              <a:tr h="594360">
                <a:tc>
                  <a:txBody>
                    <a:bodyPr/>
                    <a:lstStyle/>
                    <a:p>
                      <a:pPr algn="l"/>
                      <a:r>
                        <a:rPr sz="1300" b="1">
                          <a:solidFill>
                            <a:srgbClr val="1E293B"/>
                          </a:solidFill>
                          <a:latin typeface="Segoe UI"/>
                        </a:rPr>
                        <a:t>CoG (Trọng tâm)</a:t>
                      </a:r>
                    </a:p>
                  </a:txBody>
                  <a:tcPr>
                    <a:solidFill>
                      <a:srgbClr val="FFFFFF"/>
                    </a:solidFill>
                  </a:tcPr>
                </a:tc>
                <a:tc>
                  <a:txBody>
                    <a:bodyPr/>
                    <a:lstStyle/>
                    <a:p>
                      <a:pPr algn="ctr"/>
                      <a:r>
                        <a:rPr sz="1300" b="1">
                          <a:solidFill>
                            <a:srgbClr val="E05A1F"/>
                          </a:solidFill>
                          <a:latin typeface="Segoe UI"/>
                        </a:rPr>
                        <a:t>0,1804 px</a:t>
                      </a:r>
                    </a:p>
                  </a:txBody>
                  <a:tcPr>
                    <a:solidFill>
                      <a:srgbClr val="FFFFFF"/>
                    </a:solidFill>
                  </a:tcPr>
                </a:tc>
                <a:tc>
                  <a:txBody>
                    <a:bodyPr/>
                    <a:lstStyle/>
                    <a:p>
                      <a:pPr algn="ctr"/>
                      <a:r>
                        <a:rPr sz="1300" b="0">
                          <a:solidFill>
                            <a:srgbClr val="1E293B"/>
                          </a:solidFill>
                          <a:latin typeface="Segoe UI"/>
                        </a:rPr>
                        <a:t>0,0639 px</a:t>
                      </a:r>
                    </a:p>
                  </a:txBody>
                  <a:tcPr>
                    <a:solidFill>
                      <a:srgbClr val="FFFFFF"/>
                    </a:solidFill>
                  </a:tcPr>
                </a:tc>
                <a:tc>
                  <a:txBody>
                    <a:bodyPr/>
                    <a:lstStyle/>
                    <a:p>
                      <a:pPr algn="ctr"/>
                      <a:r>
                        <a:rPr sz="1300" b="0">
                          <a:solidFill>
                            <a:srgbClr val="1E293B"/>
                          </a:solidFill>
                          <a:latin typeface="Segoe UI"/>
                        </a:rPr>
                        <a:t>25206/27017 (100%)</a:t>
                      </a:r>
                    </a:p>
                  </a:txBody>
                  <a:tcPr>
                    <a:solidFill>
                      <a:srgbClr val="FFFFFF"/>
                    </a:solidFill>
                  </a:tcPr>
                </a:tc>
                <a:tc>
                  <a:txBody>
                    <a:bodyPr/>
                    <a:lstStyle/>
                    <a:p>
                      <a:pPr algn="ctr"/>
                      <a:r>
                        <a:rPr sz="1300" b="1">
                          <a:solidFill>
                            <a:srgbClr val="1E293B"/>
                          </a:solidFill>
                          <a:latin typeface="Segoe UI"/>
                        </a:rPr>
                        <a:t>34 ms</a:t>
                      </a:r>
                    </a:p>
                  </a:txBody>
                  <a:tcPr>
                    <a:solidFill>
                      <a:srgbClr val="FFFFFF"/>
                    </a:solidFill>
                  </a:tcPr>
                </a:tc>
                <a:extLst>
                  <a:ext uri="{0D108BD9-81ED-4DB2-BD59-A6C34878D82A}">
                    <a16:rowId xmlns:a16="http://schemas.microsoft.com/office/drawing/2014/main" val="10001"/>
                  </a:ext>
                </a:extLst>
              </a:tr>
              <a:tr h="594360">
                <a:tc>
                  <a:txBody>
                    <a:bodyPr/>
                    <a:lstStyle/>
                    <a:p>
                      <a:pPr algn="l"/>
                      <a:r>
                        <a:rPr sz="1300" b="1">
                          <a:solidFill>
                            <a:srgbClr val="1E293B"/>
                          </a:solidFill>
                          <a:latin typeface="Segoe UI"/>
                        </a:rPr>
                        <a:t>CNN (MobileUNet)</a:t>
                      </a:r>
                    </a:p>
                  </a:txBody>
                  <a:tcPr>
                    <a:solidFill>
                      <a:srgbClr val="F1F5F9"/>
                    </a:solidFill>
                  </a:tcPr>
                </a:tc>
                <a:tc>
                  <a:txBody>
                    <a:bodyPr/>
                    <a:lstStyle/>
                    <a:p>
                      <a:pPr algn="ctr"/>
                      <a:r>
                        <a:rPr sz="1300" b="0">
                          <a:solidFill>
                            <a:srgbClr val="1E293B"/>
                          </a:solidFill>
                          <a:latin typeface="Segoe UI"/>
                        </a:rPr>
                        <a:t>0,4745 px</a:t>
                      </a:r>
                    </a:p>
                  </a:txBody>
                  <a:tcPr>
                    <a:solidFill>
                      <a:srgbClr val="F1F5F9"/>
                    </a:solidFill>
                  </a:tcPr>
                </a:tc>
                <a:tc>
                  <a:txBody>
                    <a:bodyPr/>
                    <a:lstStyle/>
                    <a:p>
                      <a:pPr algn="ctr"/>
                      <a:r>
                        <a:rPr sz="1300" b="0">
                          <a:solidFill>
                            <a:srgbClr val="1E293B"/>
                          </a:solidFill>
                          <a:latin typeface="Segoe UI"/>
                        </a:rPr>
                        <a:t>0,4567 px</a:t>
                      </a:r>
                    </a:p>
                  </a:txBody>
                  <a:tcPr>
                    <a:solidFill>
                      <a:srgbClr val="F1F5F9"/>
                    </a:solidFill>
                  </a:tcPr>
                </a:tc>
                <a:tc>
                  <a:txBody>
                    <a:bodyPr/>
                    <a:lstStyle/>
                    <a:p>
                      <a:pPr algn="ctr"/>
                      <a:r>
                        <a:rPr sz="1300" b="0">
                          <a:solidFill>
                            <a:srgbClr val="1E293B"/>
                          </a:solidFill>
                          <a:latin typeface="Segoe UI"/>
                        </a:rPr>
                        <a:t>25050/27017 (98,4%)</a:t>
                      </a:r>
                    </a:p>
                  </a:txBody>
                  <a:tcPr>
                    <a:solidFill>
                      <a:srgbClr val="F1F5F9"/>
                    </a:solidFill>
                  </a:tcPr>
                </a:tc>
                <a:tc>
                  <a:txBody>
                    <a:bodyPr/>
                    <a:lstStyle/>
                    <a:p>
                      <a:pPr algn="ctr"/>
                      <a:r>
                        <a:rPr sz="1300" b="0">
                          <a:solidFill>
                            <a:srgbClr val="1E293B"/>
                          </a:solidFill>
                          <a:latin typeface="Segoe UI"/>
                        </a:rPr>
                        <a:t>60 ms</a:t>
                      </a:r>
                    </a:p>
                  </a:txBody>
                  <a:tcPr>
                    <a:solidFill>
                      <a:srgbClr val="F1F5F9"/>
                    </a:solidFill>
                  </a:tcPr>
                </a:tc>
                <a:extLst>
                  <a:ext uri="{0D108BD9-81ED-4DB2-BD59-A6C34878D82A}">
                    <a16:rowId xmlns:a16="http://schemas.microsoft.com/office/drawing/2014/main" val="10002"/>
                  </a:ext>
                </a:extLst>
              </a:tr>
            </a:tbl>
          </a:graphicData>
        </a:graphic>
      </p:graphicFrame>
      <p:sp>
        <p:nvSpPr>
          <p:cNvPr id="9" name="Rounded Rectangle 8"/>
          <p:cNvSpPr/>
          <p:nvPr/>
        </p:nvSpPr>
        <p:spPr>
          <a:xfrm>
            <a:off x="548640" y="3246120"/>
            <a:ext cx="3520440" cy="288036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48640" y="3246120"/>
            <a:ext cx="352044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3392424"/>
            <a:ext cx="1796796"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ĐỘ CHÍNH XÁC (RMSE)</a:t>
            </a:r>
          </a:p>
        </p:txBody>
      </p:sp>
      <p:sp>
        <p:nvSpPr>
          <p:cNvPr id="12" name="TextBox 11"/>
          <p:cNvSpPr txBox="1"/>
          <p:nvPr/>
        </p:nvSpPr>
        <p:spPr>
          <a:xfrm>
            <a:off x="731520" y="3648456"/>
            <a:ext cx="3154680" cy="2423160"/>
          </a:xfrm>
          <a:prstGeom prst="rect">
            <a:avLst/>
          </a:prstGeom>
          <a:noFill/>
        </p:spPr>
        <p:txBody>
          <a:bodyPr wrap="square">
            <a:spAutoFit/>
          </a:bodyPr>
          <a:lstStyle/>
          <a:p>
            <a:r>
              <a:rPr sz="2400" b="1">
                <a:solidFill>
                  <a:srgbClr val="133E68"/>
                </a:solidFill>
                <a:latin typeface="Segoe UI"/>
              </a:rPr>
              <a:t>0,1804 px</a:t>
            </a:r>
          </a:p>
          <a:p>
            <a:pPr>
              <a:spcBef>
                <a:spcPts val="400"/>
              </a:spcBef>
            </a:pPr>
            <a:r>
              <a:rPr sz="1300" b="1">
                <a:solidFill>
                  <a:srgbClr val="1E293B"/>
                </a:solidFill>
                <a:latin typeface="Segoe UI"/>
              </a:rPr>
              <a:t>CoG chính xác hơn về tâm sao</a:t>
            </a:r>
          </a:p>
          <a:p>
            <a:pPr>
              <a:spcBef>
                <a:spcPts val="800"/>
              </a:spcBef>
            </a:pPr>
            <a:r>
              <a:rPr sz="1150" b="0">
                <a:solidFill>
                  <a:srgbClr val="64748B"/>
                </a:solidFill>
                <a:latin typeface="Segoe UI"/>
              </a:rPr>
              <a:t>• 500 khung 1024×683, máy đo NVIDIA GeForce RTX 5070 Laptop GPU.
• CoG: RMSE trung bình 0,1804 px.
• CNN: RMSE trung bình 0,4745 px.
• Trên bộ sạch, CoG chính xác hơn.</a:t>
            </a:r>
          </a:p>
        </p:txBody>
      </p:sp>
      <p:sp>
        <p:nvSpPr>
          <p:cNvPr id="13" name="Rounded Rectangle 12"/>
          <p:cNvSpPr/>
          <p:nvPr/>
        </p:nvSpPr>
        <p:spPr>
          <a:xfrm>
            <a:off x="4334255" y="3246120"/>
            <a:ext cx="3520440" cy="288036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334255" y="3246120"/>
            <a:ext cx="352044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517136" y="3392424"/>
            <a:ext cx="2029968"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TỐC ĐỘ XỬ LÝ (LATENCY)</a:t>
            </a:r>
          </a:p>
        </p:txBody>
      </p:sp>
      <p:sp>
        <p:nvSpPr>
          <p:cNvPr id="16" name="TextBox 15"/>
          <p:cNvSpPr txBox="1"/>
          <p:nvPr/>
        </p:nvSpPr>
        <p:spPr>
          <a:xfrm>
            <a:off x="4517136" y="3648456"/>
            <a:ext cx="3154680" cy="2423160"/>
          </a:xfrm>
          <a:prstGeom prst="rect">
            <a:avLst/>
          </a:prstGeom>
          <a:noFill/>
        </p:spPr>
        <p:txBody>
          <a:bodyPr wrap="square">
            <a:spAutoFit/>
          </a:bodyPr>
          <a:lstStyle/>
          <a:p>
            <a:r>
              <a:rPr sz="2400" b="1">
                <a:solidFill>
                  <a:srgbClr val="133E68"/>
                </a:solidFill>
                <a:latin typeface="Segoe UI"/>
              </a:rPr>
              <a:t>34 ms</a:t>
            </a:r>
          </a:p>
          <a:p>
            <a:pPr>
              <a:spcBef>
                <a:spcPts val="400"/>
              </a:spcBef>
            </a:pPr>
            <a:r>
              <a:rPr sz="1300" b="1">
                <a:solidFill>
                  <a:srgbClr val="1E293B"/>
                </a:solidFill>
                <a:latin typeface="Segoe UI"/>
              </a:rPr>
              <a:t>CoG nhanh gần gấp đôi CNN</a:t>
            </a:r>
          </a:p>
          <a:p>
            <a:pPr>
              <a:spcBef>
                <a:spcPts val="800"/>
              </a:spcBef>
            </a:pPr>
            <a:r>
              <a:rPr sz="1150" b="0">
                <a:solidFill>
                  <a:srgbClr val="64748B"/>
                </a:solidFill>
                <a:latin typeface="Segoe UI"/>
              </a:rPr>
              <a:t>• CoG: trung vị 34 ms.
• CNN: trung vị 60 ms.
• CoG tiết kiệm tài nguyên tính toán đáng kể.
• Trên bộ sạch, CoG nhanh hơn ở bước tìm tâm.</a:t>
            </a:r>
          </a:p>
        </p:txBody>
      </p:sp>
      <p:sp>
        <p:nvSpPr>
          <p:cNvPr id="17" name="Rounded Rectangle 16"/>
          <p:cNvSpPr/>
          <p:nvPr/>
        </p:nvSpPr>
        <p:spPr>
          <a:xfrm>
            <a:off x="8119871" y="3246120"/>
            <a:ext cx="3520440" cy="288036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119871" y="3246120"/>
            <a:ext cx="3520440" cy="73152"/>
          </a:xfrm>
          <a:prstGeom prst="roundRect">
            <a:avLst>
              <a:gd name="adj" fmla="val 40000"/>
            </a:avLst>
          </a:prstGeom>
          <a:solidFill>
            <a:srgbClr val="E0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302751" y="3392424"/>
            <a:ext cx="2029968" cy="201168"/>
          </a:xfrm>
          <a:prstGeom prst="roundRect">
            <a:avLst>
              <a:gd name="adj" fmla="val 40000"/>
            </a:avLst>
          </a:prstGeom>
          <a:solidFill>
            <a:srgbClr val="FFF2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E05A1F"/>
                </a:solidFill>
                <a:latin typeface="Segoe UI"/>
              </a:rPr>
              <a:t>BỘ LÓA MẠNH &amp; KẾT LUẬN</a:t>
            </a:r>
          </a:p>
        </p:txBody>
      </p:sp>
      <p:sp>
        <p:nvSpPr>
          <p:cNvPr id="20" name="TextBox 19"/>
          <p:cNvSpPr txBox="1"/>
          <p:nvPr/>
        </p:nvSpPr>
        <p:spPr>
          <a:xfrm>
            <a:off x="8302751" y="3648456"/>
            <a:ext cx="3154680" cy="2423160"/>
          </a:xfrm>
          <a:prstGeom prst="rect">
            <a:avLst/>
          </a:prstGeom>
          <a:noFill/>
        </p:spPr>
        <p:txBody>
          <a:bodyPr wrap="square">
            <a:spAutoFit/>
          </a:bodyPr>
          <a:lstStyle/>
          <a:p>
            <a:r>
              <a:rPr sz="2400" b="1">
                <a:solidFill>
                  <a:srgbClr val="E05A1F"/>
                </a:solidFill>
                <a:latin typeface="Segoe UI"/>
              </a:rPr>
              <a:t>40 KHUNG</a:t>
            </a:r>
          </a:p>
          <a:p>
            <a:pPr>
              <a:spcBef>
                <a:spcPts val="400"/>
              </a:spcBef>
            </a:pPr>
            <a:r>
              <a:rPr sz="1300" b="1">
                <a:solidFill>
                  <a:srgbClr val="1E293B"/>
                </a:solidFill>
                <a:latin typeface="Segoe UI"/>
              </a:rPr>
              <a:t>Đo kiểm lóa độc lập</a:t>
            </a:r>
          </a:p>
          <a:p>
            <a:pPr>
              <a:spcBef>
                <a:spcPts val="800"/>
              </a:spcBef>
            </a:pPr>
            <a:r>
              <a:rPr sz="1150" b="0">
                <a:solidFill>
                  <a:srgbClr val="64748B"/>
                </a:solidFill>
                <a:latin typeface="Segoe UI"/>
              </a:rPr>
              <a:t>• Lóa mạnh, 40 khung: CoG 0,1449 px, CNN 0,3951 px.
• Bộ lóa mạnh được đo riêng, không thay bộ 500 khung.
• Thuật toán mặc định của hệ thống luôn là CoG.</a:t>
            </a:r>
          </a:p>
        </p:txBody>
      </p:sp>
      <p:sp>
        <p:nvSpPr>
          <p:cNvPr id="21" name="Rectangle 20"/>
          <p:cNvSpPr/>
          <p:nvPr/>
        </p:nvSpPr>
        <p:spPr>
          <a:xfrm>
            <a:off x="548640" y="6364224"/>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6419088"/>
            <a:ext cx="9144000" cy="320040"/>
          </a:xfrm>
          <a:prstGeom prst="rect">
            <a:avLst/>
          </a:prstGeom>
          <a:noFill/>
        </p:spPr>
        <p:txBody>
          <a:bodyPr wrap="none">
            <a:spAutoFit/>
          </a:bodyPr>
          <a:lstStyle/>
          <a:p>
            <a:r>
              <a:rPr sz="1000" b="0">
                <a:solidFill>
                  <a:srgbClr val="64748B"/>
                </a:solidFill>
                <a:latin typeface="Segoe UI"/>
              </a:rPr>
              <a:t>Trường Đại học Bách khoa, Đại học Đà Nẵng — Khoa Công nghệ thông tin</a:t>
            </a:r>
          </a:p>
        </p:txBody>
      </p:sp>
      <p:sp>
        <p:nvSpPr>
          <p:cNvPr id="23" name="TextBox 22"/>
          <p:cNvSpPr txBox="1"/>
          <p:nvPr/>
        </p:nvSpPr>
        <p:spPr>
          <a:xfrm>
            <a:off x="9814255" y="6419088"/>
            <a:ext cx="1828800" cy="320040"/>
          </a:xfrm>
          <a:prstGeom prst="rect">
            <a:avLst/>
          </a:prstGeom>
          <a:noFill/>
        </p:spPr>
        <p:txBody>
          <a:bodyPr wrap="none">
            <a:spAutoFit/>
          </a:bodyPr>
          <a:lstStyle/>
          <a:p>
            <a:pPr algn="r"/>
            <a:r>
              <a:rPr sz="1000" b="1">
                <a:solidFill>
                  <a:srgbClr val="133E68"/>
                </a:solidFill>
                <a:latin typeface="Segoe UI"/>
              </a:rPr>
              <a:t>7 / 13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719072" cy="237744"/>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06 | ĐIỂM SÁNG TẠO</a:t>
            </a:r>
          </a:p>
        </p:txBody>
      </p:sp>
      <p:sp>
        <p:nvSpPr>
          <p:cNvPr id="5" name="TextBox 4"/>
          <p:cNvSpPr txBox="1"/>
          <p:nvPr/>
        </p:nvSpPr>
        <p:spPr>
          <a:xfrm>
            <a:off x="548640" y="475488"/>
            <a:ext cx="11094415" cy="384048"/>
          </a:xfrm>
          <a:prstGeom prst="rect">
            <a:avLst/>
          </a:prstGeom>
          <a:noFill/>
        </p:spPr>
        <p:txBody>
          <a:bodyPr wrap="square">
            <a:spAutoFit/>
          </a:bodyPr>
          <a:lstStyle/>
          <a:p>
            <a:pPr algn="l"/>
            <a:r>
              <a:rPr sz="2300" b="1">
                <a:solidFill>
                  <a:srgbClr val="133E68"/>
                </a:solidFill>
                <a:latin typeface="Segoe UI"/>
              </a:rPr>
              <a:t>6. Ảnh núi thật LOST</a:t>
            </a:r>
          </a:p>
        </p:txBody>
      </p:sp>
      <p:sp>
        <p:nvSpPr>
          <p:cNvPr id="6" name="TextBox 5"/>
          <p:cNvSpPr txBox="1"/>
          <p:nvPr/>
        </p:nvSpPr>
        <p:spPr>
          <a:xfrm>
            <a:off x="548640" y="841248"/>
            <a:ext cx="11094415" cy="256032"/>
          </a:xfrm>
          <a:prstGeom prst="rect">
            <a:avLst/>
          </a:prstGeom>
          <a:noFill/>
        </p:spPr>
        <p:txBody>
          <a:bodyPr wrap="none">
            <a:spAutoFit/>
          </a:bodyPr>
          <a:lstStyle/>
          <a:p>
            <a:pPr algn="l"/>
            <a:r>
              <a:rPr sz="1250" b="0">
                <a:solidFill>
                  <a:srgbClr val="64748B"/>
                </a:solidFill>
                <a:latin typeface="Segoe UI"/>
              </a:rPr>
              <a:t>4,2 mm · 4,1 µm · ảnh công bố kèm LOST</a:t>
            </a:r>
          </a:p>
        </p:txBody>
      </p:sp>
      <p:sp>
        <p:nvSpPr>
          <p:cNvPr id="7" name="Rectangle 6"/>
          <p:cNvSpPr/>
          <p:nvPr/>
        </p:nvSpPr>
        <p:spPr>
          <a:xfrm>
            <a:off x="548640" y="1115568"/>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261872"/>
            <a:ext cx="4937760" cy="484632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mount_st_helens_cog_vs_cnn.png"/>
          <p:cNvPicPr>
            <a:picLocks noChangeAspect="1"/>
          </p:cNvPicPr>
          <p:nvPr/>
        </p:nvPicPr>
        <p:blipFill>
          <a:blip r:embed="rId2"/>
          <a:stretch>
            <a:fillRect/>
          </a:stretch>
        </p:blipFill>
        <p:spPr>
          <a:xfrm>
            <a:off x="1063259" y="1371600"/>
            <a:ext cx="3908520" cy="4206239"/>
          </a:xfrm>
          <a:prstGeom prst="rect">
            <a:avLst/>
          </a:prstGeom>
        </p:spPr>
      </p:pic>
      <p:sp>
        <p:nvSpPr>
          <p:cNvPr id="10" name="TextBox 9"/>
          <p:cNvSpPr txBox="1"/>
          <p:nvPr/>
        </p:nvSpPr>
        <p:spPr>
          <a:xfrm>
            <a:off x="685800" y="5669280"/>
            <a:ext cx="4663440" cy="365760"/>
          </a:xfrm>
          <a:prstGeom prst="rect">
            <a:avLst/>
          </a:prstGeom>
          <a:noFill/>
        </p:spPr>
        <p:txBody>
          <a:bodyPr wrap="none">
            <a:spAutoFit/>
          </a:bodyPr>
          <a:lstStyle/>
          <a:p>
            <a:pPr algn="ctr"/>
            <a:r>
              <a:rPr sz="1100" b="1">
                <a:solidFill>
                  <a:srgbClr val="1E293B"/>
                </a:solidFill>
                <a:latin typeface="Segoe UI"/>
              </a:rPr>
              <a:t>Cam là CoG. Xanh là CNN. Đỏ là mặt nạ.</a:t>
            </a:r>
          </a:p>
        </p:txBody>
      </p:sp>
      <p:sp>
        <p:nvSpPr>
          <p:cNvPr id="11" name="Rounded Rectangle 10"/>
          <p:cNvSpPr/>
          <p:nvPr/>
        </p:nvSpPr>
        <p:spPr>
          <a:xfrm>
            <a:off x="5742431" y="1261872"/>
            <a:ext cx="5897880" cy="150876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742431" y="1261872"/>
            <a:ext cx="5897880" cy="73152"/>
          </a:xfrm>
          <a:prstGeom prst="roundRect">
            <a:avLst>
              <a:gd name="adj" fmla="val 40000"/>
            </a:avLst>
          </a:prstGeom>
          <a:solidFill>
            <a:srgbClr val="E0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925312" y="1389888"/>
            <a:ext cx="1874520" cy="201168"/>
          </a:xfrm>
          <a:prstGeom prst="roundRect">
            <a:avLst>
              <a:gd name="adj" fmla="val 40000"/>
            </a:avLst>
          </a:prstGeom>
          <a:solidFill>
            <a:srgbClr val="FFF2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E05A1F"/>
                </a:solidFill>
                <a:latin typeface="Segoe UI"/>
              </a:rPr>
              <a:t>KHÁNG NHIỄU ĐỊA HÌNH</a:t>
            </a:r>
          </a:p>
        </p:txBody>
      </p:sp>
      <p:sp>
        <p:nvSpPr>
          <p:cNvPr id="14" name="TextBox 13"/>
          <p:cNvSpPr txBox="1"/>
          <p:nvPr/>
        </p:nvSpPr>
        <p:spPr>
          <a:xfrm>
            <a:off x="5925312" y="1627632"/>
            <a:ext cx="5532120" cy="1097280"/>
          </a:xfrm>
          <a:prstGeom prst="rect">
            <a:avLst/>
          </a:prstGeom>
          <a:noFill/>
        </p:spPr>
        <p:txBody>
          <a:bodyPr wrap="square">
            <a:spAutoFit/>
          </a:bodyPr>
          <a:lstStyle/>
          <a:p>
            <a:r>
              <a:rPr sz="1800" b="1">
                <a:solidFill>
                  <a:srgbClr val="E05A1F"/>
                </a:solidFill>
                <a:latin typeface="Segoe UI"/>
              </a:rPr>
              <a:t>1 ĐIỂM (CNN)  vs  25 ĐIỂM (CoG)</a:t>
            </a:r>
          </a:p>
          <a:p>
            <a:pPr>
              <a:spcBef>
                <a:spcPts val="400"/>
              </a:spcBef>
            </a:pPr>
            <a:r>
              <a:rPr sz="1150" b="0">
                <a:solidFill>
                  <a:srgbClr val="1E293B"/>
                </a:solidFill>
                <a:latin typeface="Segoe UI"/>
              </a:rPr>
              <a:t>• CoG: 111 điểm. Núi/cây 25, trời 86.
• CNN: 79 điểm. Núi/cây 1, trời 78.
• CNN giảm 96% điểm sáng giả trên địa hình núi/cây!</a:t>
            </a:r>
          </a:p>
        </p:txBody>
      </p:sp>
      <p:sp>
        <p:nvSpPr>
          <p:cNvPr id="15" name="Rounded Rectangle 14"/>
          <p:cNvSpPr/>
          <p:nvPr/>
        </p:nvSpPr>
        <p:spPr>
          <a:xfrm>
            <a:off x="5742431" y="2880360"/>
            <a:ext cx="5897880" cy="150876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742431" y="2880360"/>
            <a:ext cx="589788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925312" y="3008376"/>
            <a:ext cx="1796796"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ĐỘ LỆCH SO VỚI LOST</a:t>
            </a:r>
          </a:p>
        </p:txBody>
      </p:sp>
      <p:sp>
        <p:nvSpPr>
          <p:cNvPr id="18" name="TextBox 17"/>
          <p:cNvSpPr txBox="1"/>
          <p:nvPr/>
        </p:nvSpPr>
        <p:spPr>
          <a:xfrm>
            <a:off x="5925312" y="3246120"/>
            <a:ext cx="5532120" cy="1097280"/>
          </a:xfrm>
          <a:prstGeom prst="rect">
            <a:avLst/>
          </a:prstGeom>
          <a:noFill/>
        </p:spPr>
        <p:txBody>
          <a:bodyPr wrap="square">
            <a:spAutoFit/>
          </a:bodyPr>
          <a:lstStyle/>
          <a:p>
            <a:r>
              <a:rPr sz="1700" b="1">
                <a:solidFill>
                  <a:srgbClr val="133E68"/>
                </a:solidFill>
                <a:latin typeface="Segoe UI"/>
              </a:rPr>
              <a:t>CNN: lệch LOST 0,038°  (CoG lệch 0,094°)</a:t>
            </a:r>
          </a:p>
          <a:p>
            <a:pPr>
              <a:spcBef>
                <a:spcPts val="400"/>
              </a:spcBef>
            </a:pPr>
            <a:r>
              <a:rPr sz="1150" b="0">
                <a:solidFill>
                  <a:srgbClr val="1E293B"/>
                </a:solidFill>
                <a:latin typeface="Segoe UI"/>
              </a:rPr>
              <a:t>• LOST công bố: 310,446° / +36,0229°.
• CNN: lệch LOST 0,038°, khớp 63/79, khoảng 5,1 s.
• CoG: lệch LOST 0,094°, khớp 64/106, khoảng 16,2 s.</a:t>
            </a:r>
          </a:p>
        </p:txBody>
      </p:sp>
      <p:sp>
        <p:nvSpPr>
          <p:cNvPr id="19" name="Rounded Rectangle 18"/>
          <p:cNvSpPr/>
          <p:nvPr/>
        </p:nvSpPr>
        <p:spPr>
          <a:xfrm>
            <a:off x="5742431" y="4498848"/>
            <a:ext cx="5897880" cy="1609344"/>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742431" y="4498848"/>
            <a:ext cx="589788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925312" y="4626864"/>
            <a:ext cx="2107692"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THỜI GIAN GIẢI TỔNG THỂ</a:t>
            </a:r>
          </a:p>
        </p:txBody>
      </p:sp>
      <p:sp>
        <p:nvSpPr>
          <p:cNvPr id="22" name="TextBox 21"/>
          <p:cNvSpPr txBox="1"/>
          <p:nvPr/>
        </p:nvSpPr>
        <p:spPr>
          <a:xfrm>
            <a:off x="5925312" y="4864608"/>
            <a:ext cx="5532120" cy="1188720"/>
          </a:xfrm>
          <a:prstGeom prst="rect">
            <a:avLst/>
          </a:prstGeom>
          <a:noFill/>
        </p:spPr>
        <p:txBody>
          <a:bodyPr wrap="square">
            <a:spAutoFit/>
          </a:bodyPr>
          <a:lstStyle/>
          <a:p>
            <a:r>
              <a:rPr sz="1700" b="1">
                <a:solidFill>
                  <a:srgbClr val="16A34A"/>
                </a:solidFill>
                <a:latin typeface="Segoe UI"/>
              </a:rPr>
              <a:t>CNN: 5,1 s  vs  CoG: 16,2 s  (Nhanh hơn 3,2 lần)</a:t>
            </a:r>
          </a:p>
          <a:p>
            <a:pPr>
              <a:spcBef>
                <a:spcPts val="400"/>
              </a:spcBef>
            </a:pPr>
            <a:r>
              <a:rPr sz="1150" b="0">
                <a:solidFill>
                  <a:srgbClr val="1E293B"/>
                </a:solidFill>
                <a:latin typeface="Segoe UI"/>
              </a:rPr>
              <a:t>• Nhờ loại bỏ 24 điểm giả trên núi, cây tìm kiếm Pyramid không bị nghẽn nhánh.
• Ảnh sạch: CoG vẫn có RMSE thấp hơn.
• Trên ảnh có địa hình/ánh sáng lạc: CNN thể hiện ưu thế vượt trội!</a:t>
            </a:r>
          </a:p>
        </p:txBody>
      </p:sp>
      <p:sp>
        <p:nvSpPr>
          <p:cNvPr id="23" name="Rectangle 22"/>
          <p:cNvSpPr/>
          <p:nvPr/>
        </p:nvSpPr>
        <p:spPr>
          <a:xfrm>
            <a:off x="548640" y="6364224"/>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6419088"/>
            <a:ext cx="9144000" cy="320040"/>
          </a:xfrm>
          <a:prstGeom prst="rect">
            <a:avLst/>
          </a:prstGeom>
          <a:noFill/>
        </p:spPr>
        <p:txBody>
          <a:bodyPr wrap="none">
            <a:spAutoFit/>
          </a:bodyPr>
          <a:lstStyle/>
          <a:p>
            <a:r>
              <a:rPr sz="1000" b="0">
                <a:solidFill>
                  <a:srgbClr val="64748B"/>
                </a:solidFill>
                <a:latin typeface="Segoe UI"/>
              </a:rPr>
              <a:t>Trường Đại học Bách khoa, Đại học Đà Nẵng — Khoa Công nghệ thông tin</a:t>
            </a:r>
          </a:p>
        </p:txBody>
      </p:sp>
      <p:sp>
        <p:nvSpPr>
          <p:cNvPr id="25" name="TextBox 24"/>
          <p:cNvSpPr txBox="1"/>
          <p:nvPr/>
        </p:nvSpPr>
        <p:spPr>
          <a:xfrm>
            <a:off x="9814255" y="6419088"/>
            <a:ext cx="1828800" cy="320040"/>
          </a:xfrm>
          <a:prstGeom prst="rect">
            <a:avLst/>
          </a:prstGeom>
          <a:noFill/>
        </p:spPr>
        <p:txBody>
          <a:bodyPr wrap="none">
            <a:spAutoFit/>
          </a:bodyPr>
          <a:lstStyle/>
          <a:p>
            <a:pPr algn="r"/>
            <a:r>
              <a:rPr sz="1000" b="1">
                <a:solidFill>
                  <a:srgbClr val="133E68"/>
                </a:solidFill>
                <a:latin typeface="Segoe UI"/>
              </a:rPr>
              <a:t>8 / 13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2185416" cy="237744"/>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07 | ĐỐI CHIẾU HỌC THUẬT</a:t>
            </a:r>
          </a:p>
        </p:txBody>
      </p:sp>
      <p:sp>
        <p:nvSpPr>
          <p:cNvPr id="5" name="TextBox 4"/>
          <p:cNvSpPr txBox="1"/>
          <p:nvPr/>
        </p:nvSpPr>
        <p:spPr>
          <a:xfrm>
            <a:off x="548640" y="475488"/>
            <a:ext cx="11094415" cy="384048"/>
          </a:xfrm>
          <a:prstGeom prst="rect">
            <a:avLst/>
          </a:prstGeom>
          <a:noFill/>
        </p:spPr>
        <p:txBody>
          <a:bodyPr wrap="square">
            <a:spAutoFit/>
          </a:bodyPr>
          <a:lstStyle/>
          <a:p>
            <a:pPr algn="l"/>
            <a:r>
              <a:rPr sz="2300" b="1">
                <a:solidFill>
                  <a:srgbClr val="133E68"/>
                </a:solidFill>
                <a:latin typeface="Segoe UI"/>
              </a:rPr>
              <a:t>7. Trích dẫn Zhao và cộng sự</a:t>
            </a:r>
          </a:p>
        </p:txBody>
      </p:sp>
      <p:sp>
        <p:nvSpPr>
          <p:cNvPr id="6" name="TextBox 5"/>
          <p:cNvSpPr txBox="1"/>
          <p:nvPr/>
        </p:nvSpPr>
        <p:spPr>
          <a:xfrm>
            <a:off x="548640" y="841248"/>
            <a:ext cx="11094415" cy="256032"/>
          </a:xfrm>
          <a:prstGeom prst="rect">
            <a:avLst/>
          </a:prstGeom>
          <a:noFill/>
        </p:spPr>
        <p:txBody>
          <a:bodyPr wrap="none">
            <a:spAutoFit/>
          </a:bodyPr>
          <a:lstStyle/>
          <a:p>
            <a:pPr algn="l"/>
            <a:r>
              <a:rPr sz="1250" b="0">
                <a:solidFill>
                  <a:srgbClr val="64748B"/>
                </a:solidFill>
                <a:latin typeface="Segoe UI"/>
              </a:rPr>
              <a:t>arXiv:2404.19108 · số của tác giả — tách khỏi số nhóm</a:t>
            </a:r>
          </a:p>
        </p:txBody>
      </p:sp>
      <p:sp>
        <p:nvSpPr>
          <p:cNvPr id="7" name="Rectangle 6"/>
          <p:cNvSpPr/>
          <p:nvPr/>
        </p:nvSpPr>
        <p:spPr>
          <a:xfrm>
            <a:off x="548640" y="1115568"/>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261872"/>
            <a:ext cx="5394960" cy="265176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project_00.png"/>
          <p:cNvPicPr>
            <a:picLocks noChangeAspect="1"/>
          </p:cNvPicPr>
          <p:nvPr/>
        </p:nvPicPr>
        <p:blipFill>
          <a:blip r:embed="rId2"/>
          <a:stretch>
            <a:fillRect/>
          </a:stretch>
        </p:blipFill>
        <p:spPr>
          <a:xfrm>
            <a:off x="1323870" y="1353312"/>
            <a:ext cx="3844498" cy="2286000"/>
          </a:xfrm>
          <a:prstGeom prst="rect">
            <a:avLst/>
          </a:prstGeom>
        </p:spPr>
      </p:pic>
      <p:sp>
        <p:nvSpPr>
          <p:cNvPr id="10" name="Rounded Rectangle 9"/>
          <p:cNvSpPr/>
          <p:nvPr/>
        </p:nvSpPr>
        <p:spPr>
          <a:xfrm>
            <a:off x="777240" y="3566160"/>
            <a:ext cx="2651760" cy="219456"/>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Sơ đồ MobileUNet (Zhao et al.)</a:t>
            </a:r>
          </a:p>
        </p:txBody>
      </p:sp>
      <p:sp>
        <p:nvSpPr>
          <p:cNvPr id="11" name="Rounded Rectangle 10"/>
          <p:cNvSpPr/>
          <p:nvPr/>
        </p:nvSpPr>
        <p:spPr>
          <a:xfrm>
            <a:off x="6248095" y="1261872"/>
            <a:ext cx="5394960" cy="265176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project_03.png"/>
          <p:cNvPicPr>
            <a:picLocks noChangeAspect="1"/>
          </p:cNvPicPr>
          <p:nvPr/>
        </p:nvPicPr>
        <p:blipFill>
          <a:blip r:embed="rId3"/>
          <a:stretch>
            <a:fillRect/>
          </a:stretch>
        </p:blipFill>
        <p:spPr>
          <a:xfrm>
            <a:off x="6402212" y="1554480"/>
            <a:ext cx="5086725" cy="1874520"/>
          </a:xfrm>
          <a:prstGeom prst="rect">
            <a:avLst/>
          </a:prstGeom>
        </p:spPr>
      </p:pic>
      <p:sp>
        <p:nvSpPr>
          <p:cNvPr id="13" name="Rounded Rectangle 12"/>
          <p:cNvSpPr/>
          <p:nvPr/>
        </p:nvSpPr>
        <p:spPr>
          <a:xfrm>
            <a:off x="6476695" y="3566160"/>
            <a:ext cx="2962656" cy="219456"/>
          </a:xfrm>
          <a:prstGeom prst="roundRect">
            <a:avLst>
              <a:gd name="adj" fmla="val 40000"/>
            </a:avLst>
          </a:prstGeom>
          <a:solidFill>
            <a:srgbClr val="FFF2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E05A1F"/>
                </a:solidFill>
                <a:latin typeface="Segoe UI"/>
              </a:rPr>
              <a:t>Ánh sáng lạc ban đêm (Stray Light)</a:t>
            </a:r>
          </a:p>
        </p:txBody>
      </p:sp>
      <p:sp>
        <p:nvSpPr>
          <p:cNvPr id="14" name="Rounded Rectangle 13"/>
          <p:cNvSpPr/>
          <p:nvPr/>
        </p:nvSpPr>
        <p:spPr>
          <a:xfrm>
            <a:off x="548640" y="4005072"/>
            <a:ext cx="5394960" cy="210312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48640" y="4005072"/>
            <a:ext cx="539496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31520" y="4133087"/>
            <a:ext cx="2418588"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CÔNG BỐ CỦA TÁC GIẢ BÀI BÁO</a:t>
            </a:r>
          </a:p>
        </p:txBody>
      </p:sp>
      <p:sp>
        <p:nvSpPr>
          <p:cNvPr id="17" name="TextBox 16"/>
          <p:cNvSpPr txBox="1"/>
          <p:nvPr/>
        </p:nvSpPr>
        <p:spPr>
          <a:xfrm>
            <a:off x="731520" y="4370832"/>
            <a:ext cx="5029200" cy="1645920"/>
          </a:xfrm>
          <a:prstGeom prst="rect">
            <a:avLst/>
          </a:prstGeom>
          <a:noFill/>
        </p:spPr>
        <p:txBody>
          <a:bodyPr wrap="square">
            <a:spAutoFit/>
          </a:bodyPr>
          <a:lstStyle/>
          <a:p>
            <a:r>
              <a:rPr sz="1500" b="1">
                <a:solidFill>
                  <a:srgbClr val="133E68"/>
                </a:solidFill>
                <a:latin typeface="Segoe UI"/>
              </a:rPr>
              <a:t>Số liệu của tác giả (Zhao et al.)</a:t>
            </a:r>
          </a:p>
          <a:p>
            <a:pPr>
              <a:spcBef>
                <a:spcPts val="600"/>
              </a:spcBef>
            </a:pPr>
            <a:r>
              <a:rPr sz="1200" b="0">
                <a:solidFill>
                  <a:srgbClr val="1E293B"/>
                </a:solidFill>
                <a:latin typeface="Segoe UI"/>
              </a:rPr>
              <a:t>• Trái: sơ đồ phương pháp. Phải: đêm có ánh sáng lạc. Nguồn: Zhao et al., arXiv:2404.19108.
• Tác giả: khoảng 20 ms trên RTX 2060M; khoảng 266 ms trên Coral TPU.
• Trên ảnh tổng hợp của tác giả, RMSE MobileUNet khoảng 0,17 px, CoG khoảng 0,70 px.</a:t>
            </a:r>
          </a:p>
        </p:txBody>
      </p:sp>
      <p:sp>
        <p:nvSpPr>
          <p:cNvPr id="18" name="Rounded Rectangle 17"/>
          <p:cNvSpPr/>
          <p:nvPr/>
        </p:nvSpPr>
        <p:spPr>
          <a:xfrm>
            <a:off x="6248095" y="4005072"/>
            <a:ext cx="5394960" cy="210312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48095" y="4005072"/>
            <a:ext cx="5394960" cy="73152"/>
          </a:xfrm>
          <a:prstGeom prst="roundRect">
            <a:avLst>
              <a:gd name="adj" fmla="val 40000"/>
            </a:avLst>
          </a:prstGeom>
          <a:solidFill>
            <a:srgbClr val="E0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430975" y="4133087"/>
            <a:ext cx="2185416" cy="201168"/>
          </a:xfrm>
          <a:prstGeom prst="roundRect">
            <a:avLst>
              <a:gd name="adj" fmla="val 40000"/>
            </a:avLst>
          </a:prstGeom>
          <a:solidFill>
            <a:srgbClr val="FFF2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E05A1F"/>
                </a:solidFill>
                <a:latin typeface="Segoe UI"/>
              </a:rPr>
              <a:t>ĐO KIỂM ĐỘC LẬP CỦA NHÓM</a:t>
            </a:r>
          </a:p>
        </p:txBody>
      </p:sp>
      <p:sp>
        <p:nvSpPr>
          <p:cNvPr id="21" name="TextBox 20"/>
          <p:cNvSpPr txBox="1"/>
          <p:nvPr/>
        </p:nvSpPr>
        <p:spPr>
          <a:xfrm>
            <a:off x="6430975" y="4370832"/>
            <a:ext cx="5029200" cy="1645920"/>
          </a:xfrm>
          <a:prstGeom prst="rect">
            <a:avLst/>
          </a:prstGeom>
          <a:noFill/>
        </p:spPr>
        <p:txBody>
          <a:bodyPr wrap="square">
            <a:spAutoFit/>
          </a:bodyPr>
          <a:lstStyle/>
          <a:p>
            <a:r>
              <a:rPr sz="1500" b="1">
                <a:solidFill>
                  <a:srgbClr val="E05A1F"/>
                </a:solidFill>
                <a:latin typeface="Segoe UI"/>
              </a:rPr>
              <a:t>Thực nghiệm độc lập (RTX 5070 Laptop)</a:t>
            </a:r>
          </a:p>
          <a:p>
            <a:pPr>
              <a:spcBef>
                <a:spcPts val="600"/>
              </a:spcBef>
            </a:pPr>
            <a:r>
              <a:rPr sz="1200" b="0">
                <a:solidFill>
                  <a:srgbClr val="1E293B"/>
                </a:solidFill>
                <a:latin typeface="Segoe UI"/>
              </a:rPr>
              <a:t>• Đo của nhóm trên RTX 5070, 1024×683: CoG 0,1804 px, CNN 0,4745 px.
• Nhóm tách bạch rõ ràng giữa kết quả bài báo và kết quả đo thực tế của nhóm.
• Minh bạch khoa học: CoG tối ưu trên ảnh sạch, CNN giải quyết ảnh núi/ánh sáng lạc.</a:t>
            </a:r>
          </a:p>
        </p:txBody>
      </p:sp>
      <p:sp>
        <p:nvSpPr>
          <p:cNvPr id="22" name="Rectangle 21"/>
          <p:cNvSpPr/>
          <p:nvPr/>
        </p:nvSpPr>
        <p:spPr>
          <a:xfrm>
            <a:off x="548640" y="6364224"/>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6419088"/>
            <a:ext cx="9144000" cy="320040"/>
          </a:xfrm>
          <a:prstGeom prst="rect">
            <a:avLst/>
          </a:prstGeom>
          <a:noFill/>
        </p:spPr>
        <p:txBody>
          <a:bodyPr wrap="none">
            <a:spAutoFit/>
          </a:bodyPr>
          <a:lstStyle/>
          <a:p>
            <a:r>
              <a:rPr sz="1000" b="0">
                <a:solidFill>
                  <a:srgbClr val="64748B"/>
                </a:solidFill>
                <a:latin typeface="Segoe UI"/>
              </a:rPr>
              <a:t>Trường Đại học Bách khoa, Đại học Đà Nẵng — Khoa Công nghệ thông tin</a:t>
            </a:r>
          </a:p>
        </p:txBody>
      </p:sp>
      <p:sp>
        <p:nvSpPr>
          <p:cNvPr id="24" name="TextBox 23"/>
          <p:cNvSpPr txBox="1"/>
          <p:nvPr/>
        </p:nvSpPr>
        <p:spPr>
          <a:xfrm>
            <a:off x="9814255" y="6419088"/>
            <a:ext cx="1828800" cy="320040"/>
          </a:xfrm>
          <a:prstGeom prst="rect">
            <a:avLst/>
          </a:prstGeom>
          <a:noFill/>
        </p:spPr>
        <p:txBody>
          <a:bodyPr wrap="none">
            <a:spAutoFit/>
          </a:bodyPr>
          <a:lstStyle/>
          <a:p>
            <a:pPr algn="r"/>
            <a:r>
              <a:rPr sz="1000" b="1">
                <a:solidFill>
                  <a:srgbClr val="133E68"/>
                </a:solidFill>
                <a:latin typeface="Segoe UI"/>
              </a:rPr>
              <a:t>9 / 13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2029968" cy="237744"/>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08 | THIẾT KẾ PHẦN MỀM</a:t>
            </a:r>
          </a:p>
        </p:txBody>
      </p:sp>
      <p:sp>
        <p:nvSpPr>
          <p:cNvPr id="5" name="TextBox 4"/>
          <p:cNvSpPr txBox="1"/>
          <p:nvPr/>
        </p:nvSpPr>
        <p:spPr>
          <a:xfrm>
            <a:off x="548640" y="475488"/>
            <a:ext cx="11094415" cy="384048"/>
          </a:xfrm>
          <a:prstGeom prst="rect">
            <a:avLst/>
          </a:prstGeom>
          <a:noFill/>
        </p:spPr>
        <p:txBody>
          <a:bodyPr wrap="square">
            <a:spAutoFit/>
          </a:bodyPr>
          <a:lstStyle/>
          <a:p>
            <a:pPr algn="l"/>
            <a:r>
              <a:rPr sz="2300" b="1">
                <a:solidFill>
                  <a:srgbClr val="133E68"/>
                </a:solidFill>
                <a:latin typeface="Segoe UI"/>
              </a:rPr>
              <a:t>8. Kiến trúc phần mềm</a:t>
            </a:r>
          </a:p>
        </p:txBody>
      </p:sp>
      <p:sp>
        <p:nvSpPr>
          <p:cNvPr id="6" name="TextBox 5"/>
          <p:cNvSpPr txBox="1"/>
          <p:nvPr/>
        </p:nvSpPr>
        <p:spPr>
          <a:xfrm>
            <a:off x="548640" y="841248"/>
            <a:ext cx="11094415" cy="256032"/>
          </a:xfrm>
          <a:prstGeom prst="rect">
            <a:avLst/>
          </a:prstGeom>
          <a:noFill/>
        </p:spPr>
        <p:txBody>
          <a:bodyPr wrap="none">
            <a:spAutoFit/>
          </a:bodyPr>
          <a:lstStyle/>
          <a:p>
            <a:pPr algn="l"/>
            <a:r>
              <a:rPr sz="1250" b="0">
                <a:solidFill>
                  <a:srgbClr val="64748B"/>
                </a:solidFill>
                <a:latin typeface="Segoe UI"/>
              </a:rPr>
              <a:t>Giao diện cục bộ — không lặp lại đường ống thuật toán</a:t>
            </a:r>
          </a:p>
        </p:txBody>
      </p:sp>
      <p:sp>
        <p:nvSpPr>
          <p:cNvPr id="7" name="Rectangle 6"/>
          <p:cNvSpPr/>
          <p:nvPr/>
        </p:nvSpPr>
        <p:spPr>
          <a:xfrm>
            <a:off x="548640" y="1115568"/>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261872"/>
            <a:ext cx="4572000" cy="4773168"/>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261872"/>
            <a:ext cx="457200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408176"/>
            <a:ext cx="2185416" cy="219456"/>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SƠ ĐỒ KIẾN TRÚC PHẦN MỀM</a:t>
            </a:r>
          </a:p>
        </p:txBody>
      </p:sp>
      <p:pic>
        <p:nvPicPr>
          <p:cNvPr id="11" name="Picture 10" descr="software_architecture.png"/>
          <p:cNvPicPr>
            <a:picLocks noChangeAspect="1"/>
          </p:cNvPicPr>
          <p:nvPr/>
        </p:nvPicPr>
        <p:blipFill>
          <a:blip r:embed="rId2"/>
          <a:stretch>
            <a:fillRect/>
          </a:stretch>
        </p:blipFill>
        <p:spPr>
          <a:xfrm>
            <a:off x="1393368" y="1700784"/>
            <a:ext cx="2882542" cy="4242816"/>
          </a:xfrm>
          <a:prstGeom prst="rect">
            <a:avLst/>
          </a:prstGeom>
        </p:spPr>
      </p:pic>
      <p:sp>
        <p:nvSpPr>
          <p:cNvPr id="12" name="Rounded Rectangle 11"/>
          <p:cNvSpPr/>
          <p:nvPr/>
        </p:nvSpPr>
        <p:spPr>
          <a:xfrm>
            <a:off x="5376672" y="1261872"/>
            <a:ext cx="6263640" cy="1481328"/>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376672" y="1261872"/>
            <a:ext cx="626364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559552" y="1408175"/>
            <a:ext cx="2263140"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GIAO DIỆN WEB · PORT 8765</a:t>
            </a:r>
          </a:p>
        </p:txBody>
      </p:sp>
      <p:sp>
        <p:nvSpPr>
          <p:cNvPr id="15" name="TextBox 14"/>
          <p:cNvSpPr txBox="1"/>
          <p:nvPr/>
        </p:nvSpPr>
        <p:spPr>
          <a:xfrm>
            <a:off x="5559552" y="1664207"/>
            <a:ext cx="5897879" cy="1024128"/>
          </a:xfrm>
          <a:prstGeom prst="rect">
            <a:avLst/>
          </a:prstGeom>
          <a:noFill/>
        </p:spPr>
        <p:txBody>
          <a:bodyPr wrap="square">
            <a:spAutoFit/>
          </a:bodyPr>
          <a:lstStyle/>
          <a:p>
            <a:r>
              <a:rPr sz="1350" b="1">
                <a:solidFill>
                  <a:srgbClr val="133E68"/>
                </a:solidFill>
                <a:latin typeface="Segoe UI"/>
              </a:rPr>
              <a:t>Giao diện web cục bộ</a:t>
            </a:r>
          </a:p>
          <a:p>
            <a:pPr>
              <a:spcBef>
                <a:spcPts val="400"/>
              </a:spcBef>
            </a:pPr>
            <a:r>
              <a:rPr sz="1150" b="0">
                <a:solidFill>
                  <a:srgbClr val="1E293B"/>
                </a:solidFill>
                <a:latin typeface="Segoe UI"/>
              </a:rPr>
              <a:t>• Chạy trên máy cục bộ, cổng 8765. Hai chế độ tâm: CoG và CNN.
• Giao diện dashboard trực quan phục vụ kiểm thử và demo trực tiếp trước Hội đồng.</a:t>
            </a:r>
          </a:p>
        </p:txBody>
      </p:sp>
      <p:sp>
        <p:nvSpPr>
          <p:cNvPr id="16" name="Rounded Rectangle 15"/>
          <p:cNvSpPr/>
          <p:nvPr/>
        </p:nvSpPr>
        <p:spPr>
          <a:xfrm>
            <a:off x="5376672" y="2907791"/>
            <a:ext cx="6263640" cy="1481328"/>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376672" y="2907791"/>
            <a:ext cx="6263640" cy="73152"/>
          </a:xfrm>
          <a:prstGeom prst="roundRect">
            <a:avLst>
              <a:gd name="adj" fmla="val 40000"/>
            </a:avLst>
          </a:prstGeom>
          <a:solidFill>
            <a:srgbClr val="E0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559552" y="3054096"/>
            <a:ext cx="2574036" cy="201168"/>
          </a:xfrm>
          <a:prstGeom prst="roundRect">
            <a:avLst>
              <a:gd name="adj" fmla="val 40000"/>
            </a:avLst>
          </a:prstGeom>
          <a:solidFill>
            <a:srgbClr val="FFF2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E05A1F"/>
                </a:solidFill>
                <a:latin typeface="Segoe UI"/>
              </a:rPr>
              <a:t>BENCHMARK LOST · ẢNH THỰC ĐỊA</a:t>
            </a:r>
          </a:p>
        </p:txBody>
      </p:sp>
      <p:sp>
        <p:nvSpPr>
          <p:cNvPr id="19" name="TextBox 18"/>
          <p:cNvSpPr txBox="1"/>
          <p:nvPr/>
        </p:nvSpPr>
        <p:spPr>
          <a:xfrm>
            <a:off x="5559552" y="3310127"/>
            <a:ext cx="5897879" cy="1024128"/>
          </a:xfrm>
          <a:prstGeom prst="rect">
            <a:avLst/>
          </a:prstGeom>
          <a:noFill/>
        </p:spPr>
        <p:txBody>
          <a:bodyPr wrap="square">
            <a:spAutoFit/>
          </a:bodyPr>
          <a:lstStyle/>
          <a:p>
            <a:r>
              <a:rPr sz="1350" b="1">
                <a:solidFill>
                  <a:srgbClr val="E05A1F"/>
                </a:solidFill>
                <a:latin typeface="Segoe UI"/>
              </a:rPr>
              <a:t>Ảnh núi thật LOST</a:t>
            </a:r>
          </a:p>
          <a:p>
            <a:pPr>
              <a:spcBef>
                <a:spcPts val="400"/>
              </a:spcBef>
            </a:pPr>
            <a:r>
              <a:rPr sz="1150" b="0">
                <a:solidFill>
                  <a:srgbClr val="1E293B"/>
                </a:solidFill>
                <a:latin typeface="Segoe UI"/>
              </a:rPr>
              <a:t>• Nút gắn CNN, tiêu cự 4,2 mm và pixel 4,1 µm. Ảnh công bố kèm LOST, không phải ảnh nhóm chụp.
• Nút preset một chạm tải ảnh thực địa núi St. Helens kèm mặt nạ địa hình.</a:t>
            </a:r>
          </a:p>
        </p:txBody>
      </p:sp>
      <p:sp>
        <p:nvSpPr>
          <p:cNvPr id="20" name="Rounded Rectangle 19"/>
          <p:cNvSpPr/>
          <p:nvPr/>
        </p:nvSpPr>
        <p:spPr>
          <a:xfrm>
            <a:off x="5376672" y="4553712"/>
            <a:ext cx="6263640" cy="1481328"/>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376672" y="4553712"/>
            <a:ext cx="626364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559552" y="4700016"/>
            <a:ext cx="2029968" cy="201168"/>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SEED 42 · ĐẦU RA CHUẨN</a:t>
            </a:r>
          </a:p>
        </p:txBody>
      </p:sp>
      <p:sp>
        <p:nvSpPr>
          <p:cNvPr id="23" name="TextBox 22"/>
          <p:cNvSpPr txBox="1"/>
          <p:nvPr/>
        </p:nvSpPr>
        <p:spPr>
          <a:xfrm>
            <a:off x="5559552" y="4956048"/>
            <a:ext cx="5897879" cy="1024128"/>
          </a:xfrm>
          <a:prstGeom prst="rect">
            <a:avLst/>
          </a:prstGeom>
          <a:noFill/>
        </p:spPr>
        <p:txBody>
          <a:bodyPr wrap="square">
            <a:spAutoFit/>
          </a:bodyPr>
          <a:lstStyle/>
          <a:p>
            <a:r>
              <a:rPr sz="1350" b="1">
                <a:solidFill>
                  <a:srgbClr val="133E68"/>
                </a:solidFill>
                <a:latin typeface="Segoe UI"/>
              </a:rPr>
              <a:t>Seed 42 · Đầu ra quaternion 16 byte</a:t>
            </a:r>
          </a:p>
          <a:p>
            <a:pPr>
              <a:spcBef>
                <a:spcPts val="400"/>
              </a:spcBef>
            </a:pPr>
            <a:r>
              <a:rPr sz="1150" b="0">
                <a:solidFill>
                  <a:srgbClr val="1E293B"/>
                </a:solidFill>
                <a:latin typeface="Segoe UI"/>
              </a:rPr>
              <a:t>• Seed 42 dùng tâm cổ điển. Khung đã lưu lệch 0,446″ (dưới 1 giây cung).
• Đầu ra quaternion J2000 gồm 4 số thực (16 byte), chuẩn hóa cho vệ tinh.</a:t>
            </a:r>
          </a:p>
        </p:txBody>
      </p:sp>
      <p:sp>
        <p:nvSpPr>
          <p:cNvPr id="24" name="Rectangle 23"/>
          <p:cNvSpPr/>
          <p:nvPr/>
        </p:nvSpPr>
        <p:spPr>
          <a:xfrm>
            <a:off x="548640" y="6364224"/>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6419088"/>
            <a:ext cx="9144000" cy="320040"/>
          </a:xfrm>
          <a:prstGeom prst="rect">
            <a:avLst/>
          </a:prstGeom>
          <a:noFill/>
        </p:spPr>
        <p:txBody>
          <a:bodyPr wrap="none">
            <a:spAutoFit/>
          </a:bodyPr>
          <a:lstStyle/>
          <a:p>
            <a:r>
              <a:rPr sz="1000" b="0">
                <a:solidFill>
                  <a:srgbClr val="64748B"/>
                </a:solidFill>
                <a:latin typeface="Segoe UI"/>
              </a:rPr>
              <a:t>Trường Đại học Bách khoa, Đại học Đà Nẵng — Khoa Công nghệ thông tin</a:t>
            </a:r>
          </a:p>
        </p:txBody>
      </p:sp>
      <p:sp>
        <p:nvSpPr>
          <p:cNvPr id="26" name="TextBox 25"/>
          <p:cNvSpPr txBox="1"/>
          <p:nvPr/>
        </p:nvSpPr>
        <p:spPr>
          <a:xfrm>
            <a:off x="9814255" y="6419088"/>
            <a:ext cx="1828800" cy="320040"/>
          </a:xfrm>
          <a:prstGeom prst="rect">
            <a:avLst/>
          </a:prstGeom>
          <a:noFill/>
        </p:spPr>
        <p:txBody>
          <a:bodyPr wrap="none">
            <a:spAutoFit/>
          </a:bodyPr>
          <a:lstStyle/>
          <a:p>
            <a:pPr algn="r"/>
            <a:r>
              <a:rPr sz="1000" b="1">
                <a:solidFill>
                  <a:srgbClr val="133E68"/>
                </a:solidFill>
                <a:latin typeface="Segoe UI"/>
              </a:rPr>
              <a:t>10 / 13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796796" cy="237744"/>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09 | GIỚI HẠN DỰ ÁN</a:t>
            </a:r>
          </a:p>
        </p:txBody>
      </p:sp>
      <p:sp>
        <p:nvSpPr>
          <p:cNvPr id="5" name="TextBox 4"/>
          <p:cNvSpPr txBox="1"/>
          <p:nvPr/>
        </p:nvSpPr>
        <p:spPr>
          <a:xfrm>
            <a:off x="548640" y="475488"/>
            <a:ext cx="11094415" cy="384048"/>
          </a:xfrm>
          <a:prstGeom prst="rect">
            <a:avLst/>
          </a:prstGeom>
          <a:noFill/>
        </p:spPr>
        <p:txBody>
          <a:bodyPr wrap="square">
            <a:spAutoFit/>
          </a:bodyPr>
          <a:lstStyle/>
          <a:p>
            <a:pPr algn="l"/>
            <a:r>
              <a:rPr sz="2300" b="1">
                <a:solidFill>
                  <a:srgbClr val="133E68"/>
                </a:solidFill>
                <a:latin typeface="Segoe UI"/>
              </a:rPr>
              <a:t>9. Giới hạn</a:t>
            </a:r>
          </a:p>
        </p:txBody>
      </p:sp>
      <p:sp>
        <p:nvSpPr>
          <p:cNvPr id="6" name="TextBox 5"/>
          <p:cNvSpPr txBox="1"/>
          <p:nvPr/>
        </p:nvSpPr>
        <p:spPr>
          <a:xfrm>
            <a:off x="548640" y="841248"/>
            <a:ext cx="11094415" cy="256032"/>
          </a:xfrm>
          <a:prstGeom prst="rect">
            <a:avLst/>
          </a:prstGeom>
          <a:noFill/>
        </p:spPr>
        <p:txBody>
          <a:bodyPr wrap="none">
            <a:spAutoFit/>
          </a:bodyPr>
          <a:lstStyle/>
          <a:p>
            <a:pPr algn="l"/>
            <a:r>
              <a:rPr sz="1250" b="0">
                <a:solidFill>
                  <a:srgbClr val="64748B"/>
                </a:solidFill>
                <a:latin typeface="Segoe UI"/>
              </a:rPr>
              <a:t>Nhìn nhận khách quan các giới hạn kỹ thuật và phạm vi thực nghiệm</a:t>
            </a:r>
          </a:p>
        </p:txBody>
      </p:sp>
      <p:sp>
        <p:nvSpPr>
          <p:cNvPr id="7" name="Rectangle 6"/>
          <p:cNvSpPr/>
          <p:nvPr/>
        </p:nvSpPr>
        <p:spPr>
          <a:xfrm>
            <a:off x="548640" y="1115568"/>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325880"/>
            <a:ext cx="5394960" cy="224028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325880"/>
            <a:ext cx="539496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77240" y="1508760"/>
            <a:ext cx="2340864" cy="219456"/>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01 | Phần cứng thực nghiệm</a:t>
            </a:r>
          </a:p>
        </p:txBody>
      </p:sp>
      <p:sp>
        <p:nvSpPr>
          <p:cNvPr id="11" name="TextBox 10"/>
          <p:cNvSpPr txBox="1"/>
          <p:nvPr/>
        </p:nvSpPr>
        <p:spPr>
          <a:xfrm>
            <a:off x="777240" y="1801368"/>
            <a:ext cx="4937760" cy="1645920"/>
          </a:xfrm>
          <a:prstGeom prst="rect">
            <a:avLst/>
          </a:prstGeom>
          <a:noFill/>
        </p:spPr>
        <p:txBody>
          <a:bodyPr wrap="square">
            <a:spAutoFit/>
          </a:bodyPr>
          <a:lstStyle/>
          <a:p>
            <a:r>
              <a:rPr sz="1500" b="1">
                <a:solidFill>
                  <a:srgbClr val="133E68"/>
                </a:solidFill>
                <a:latin typeface="Segoe UI"/>
              </a:rPr>
              <a:t>Phần mềm chạy trên máy tính cá nhân.</a:t>
            </a:r>
          </a:p>
          <a:p>
            <a:pPr>
              <a:spcBef>
                <a:spcPts val="600"/>
              </a:spcBef>
            </a:pPr>
            <a:r>
              <a:rPr sz="1250" b="0">
                <a:solidFill>
                  <a:srgbClr val="1E293B"/>
                </a:solidFill>
                <a:latin typeface="Segoe UI"/>
              </a:rPr>
              <a:t>Hệ thống hiện được triển khai và đo lường trên laptop cá nhân (RTX 5070 Laptop), chưa được đóng gói lên chip vi điều khiển hoặc SoC CubeSat chuyên dụng chịu bức xạ vũ trụ.</a:t>
            </a:r>
          </a:p>
        </p:txBody>
      </p:sp>
      <p:sp>
        <p:nvSpPr>
          <p:cNvPr id="12" name="Rounded Rectangle 11"/>
          <p:cNvSpPr/>
          <p:nvPr/>
        </p:nvSpPr>
        <p:spPr>
          <a:xfrm>
            <a:off x="6245352" y="1325880"/>
            <a:ext cx="5394960" cy="224028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245352" y="1325880"/>
            <a:ext cx="5394960" cy="73152"/>
          </a:xfrm>
          <a:prstGeom prst="roundRect">
            <a:avLst>
              <a:gd name="adj" fmla="val 40000"/>
            </a:avLst>
          </a:prstGeom>
          <a:solidFill>
            <a:srgbClr val="E0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73952" y="1508760"/>
            <a:ext cx="2340864" cy="219456"/>
          </a:xfrm>
          <a:prstGeom prst="roundRect">
            <a:avLst>
              <a:gd name="adj" fmla="val 40000"/>
            </a:avLst>
          </a:prstGeom>
          <a:solidFill>
            <a:srgbClr val="FFF2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E05A1F"/>
                </a:solidFill>
                <a:latin typeface="Segoe UI"/>
              </a:rPr>
              <a:t>02 | Độ chính xác ảnh sạch</a:t>
            </a:r>
          </a:p>
        </p:txBody>
      </p:sp>
      <p:sp>
        <p:nvSpPr>
          <p:cNvPr id="15" name="TextBox 14"/>
          <p:cNvSpPr txBox="1"/>
          <p:nvPr/>
        </p:nvSpPr>
        <p:spPr>
          <a:xfrm>
            <a:off x="6473952" y="1801368"/>
            <a:ext cx="4937760" cy="1645920"/>
          </a:xfrm>
          <a:prstGeom prst="rect">
            <a:avLst/>
          </a:prstGeom>
          <a:noFill/>
        </p:spPr>
        <p:txBody>
          <a:bodyPr wrap="square">
            <a:spAutoFit/>
          </a:bodyPr>
          <a:lstStyle/>
          <a:p>
            <a:r>
              <a:rPr sz="1500" b="1">
                <a:solidFill>
                  <a:srgbClr val="E05A1F"/>
                </a:solidFill>
                <a:latin typeface="Segoe UI"/>
              </a:rPr>
              <a:t>Trên 500 khung sạch, CNN có RMSE cao hơn CoG.</a:t>
            </a:r>
          </a:p>
          <a:p>
            <a:pPr>
              <a:spcBef>
                <a:spcPts val="600"/>
              </a:spcBef>
            </a:pPr>
            <a:r>
              <a:rPr sz="1250" b="0">
                <a:solidFill>
                  <a:srgbClr val="1E293B"/>
                </a:solidFill>
                <a:latin typeface="Segoe UI"/>
              </a:rPr>
              <a:t>Trên 500 khung sạch chuẩn hóa, CNN có RMSE (0,4745 px) cao hơn CoG (0,1804 px). Do đó thuật toán CoG luôn là lựa chọn mặc định hàng đầu.</a:t>
            </a:r>
          </a:p>
        </p:txBody>
      </p:sp>
      <p:sp>
        <p:nvSpPr>
          <p:cNvPr id="16" name="Rounded Rectangle 15"/>
          <p:cNvSpPr/>
          <p:nvPr/>
        </p:nvSpPr>
        <p:spPr>
          <a:xfrm>
            <a:off x="548640" y="3822192"/>
            <a:ext cx="5394960" cy="224028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48640" y="3822192"/>
            <a:ext cx="539496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77240" y="4005072"/>
            <a:ext cx="2029968" cy="219456"/>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03 | Đánh giá địa hình</a:t>
            </a:r>
          </a:p>
        </p:txBody>
      </p:sp>
      <p:sp>
        <p:nvSpPr>
          <p:cNvPr id="19" name="TextBox 18"/>
          <p:cNvSpPr txBox="1"/>
          <p:nvPr/>
        </p:nvSpPr>
        <p:spPr>
          <a:xfrm>
            <a:off x="777240" y="4297680"/>
            <a:ext cx="4937760" cy="1645920"/>
          </a:xfrm>
          <a:prstGeom prst="rect">
            <a:avLst/>
          </a:prstGeom>
          <a:noFill/>
        </p:spPr>
        <p:txBody>
          <a:bodyPr wrap="square">
            <a:spAutoFit/>
          </a:bodyPr>
          <a:lstStyle/>
          <a:p>
            <a:r>
              <a:rPr sz="1500" b="1">
                <a:solidFill>
                  <a:srgbClr val="133E68"/>
                </a:solidFill>
                <a:latin typeface="Segoe UI"/>
              </a:rPr>
              <a:t>Mặt nạ núi là ước lượng. Hình overlay để kiểm bằng mắt.</a:t>
            </a:r>
          </a:p>
          <a:p>
            <a:pPr>
              <a:spcBef>
                <a:spcPts val="600"/>
              </a:spcBef>
            </a:pPr>
            <a:r>
              <a:rPr sz="1250" b="0">
                <a:solidFill>
                  <a:srgbClr val="1E293B"/>
                </a:solidFill>
                <a:latin typeface="Segoe UI"/>
              </a:rPr>
              <a:t>Ranh giới địa hình trên ảnh núi St. Helens được tạo theo ngưỡng phân đoạn ước lượng; nhóm cung cấp hình ảnh trực quan overlay để Ban Giám Khảo kiểm tra đối chiếu bằng mắt.</a:t>
            </a:r>
          </a:p>
        </p:txBody>
      </p:sp>
      <p:sp>
        <p:nvSpPr>
          <p:cNvPr id="20" name="Rounded Rectangle 19"/>
          <p:cNvSpPr/>
          <p:nvPr/>
        </p:nvSpPr>
        <p:spPr>
          <a:xfrm>
            <a:off x="6245352" y="3822192"/>
            <a:ext cx="5394960" cy="224028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45352" y="3822192"/>
            <a:ext cx="539496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73952" y="4005072"/>
            <a:ext cx="2418588" cy="219456"/>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04 | Phạm vi kiểm chứng góc</a:t>
            </a:r>
          </a:p>
        </p:txBody>
      </p:sp>
      <p:sp>
        <p:nvSpPr>
          <p:cNvPr id="23" name="TextBox 22"/>
          <p:cNvSpPr txBox="1"/>
          <p:nvPr/>
        </p:nvSpPr>
        <p:spPr>
          <a:xfrm>
            <a:off x="6473952" y="4297680"/>
            <a:ext cx="4937760" cy="1645920"/>
          </a:xfrm>
          <a:prstGeom prst="rect">
            <a:avLst/>
          </a:prstGeom>
          <a:noFill/>
        </p:spPr>
        <p:txBody>
          <a:bodyPr wrap="square">
            <a:spAutoFit/>
          </a:bodyPr>
          <a:lstStyle/>
          <a:p>
            <a:r>
              <a:rPr sz="1500" b="1">
                <a:solidFill>
                  <a:srgbClr val="133E68"/>
                </a:solidFill>
                <a:latin typeface="Segoe UI"/>
              </a:rPr>
              <a:t>Sai số góc đã đo trên một khung sạch, tâm cổ điển: 0,446″.</a:t>
            </a:r>
          </a:p>
          <a:p>
            <a:pPr>
              <a:spcBef>
                <a:spcPts val="600"/>
              </a:spcBef>
            </a:pPr>
            <a:r>
              <a:rPr sz="1250" b="0">
                <a:solidFill>
                  <a:srgbClr val="1E293B"/>
                </a:solidFill>
                <a:latin typeface="Segoe UI"/>
              </a:rPr>
              <a:t>Kết quả sai số góc 0,446″ được kiểm chứng trên một khung hình sạch tĩnh mẫu với tâm cổ điển; cần tiếp tục nghiên cứu mở rộng trong điều kiện động học quay và rung động thực tế.</a:t>
            </a:r>
          </a:p>
        </p:txBody>
      </p:sp>
      <p:sp>
        <p:nvSpPr>
          <p:cNvPr id="24" name="Rectangle 23"/>
          <p:cNvSpPr/>
          <p:nvPr/>
        </p:nvSpPr>
        <p:spPr>
          <a:xfrm>
            <a:off x="548640" y="6364224"/>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6419088"/>
            <a:ext cx="9144000" cy="320040"/>
          </a:xfrm>
          <a:prstGeom prst="rect">
            <a:avLst/>
          </a:prstGeom>
          <a:noFill/>
        </p:spPr>
        <p:txBody>
          <a:bodyPr wrap="none">
            <a:spAutoFit/>
          </a:bodyPr>
          <a:lstStyle/>
          <a:p>
            <a:r>
              <a:rPr sz="1000" b="0">
                <a:solidFill>
                  <a:srgbClr val="64748B"/>
                </a:solidFill>
                <a:latin typeface="Segoe UI"/>
              </a:rPr>
              <a:t>Trường Đại học Bách khoa, Đại học Đà Nẵng — Khoa Công nghệ thông tin</a:t>
            </a:r>
          </a:p>
        </p:txBody>
      </p:sp>
      <p:sp>
        <p:nvSpPr>
          <p:cNvPr id="26" name="TextBox 25"/>
          <p:cNvSpPr txBox="1"/>
          <p:nvPr/>
        </p:nvSpPr>
        <p:spPr>
          <a:xfrm>
            <a:off x="9814255" y="6419088"/>
            <a:ext cx="1828800" cy="320040"/>
          </a:xfrm>
          <a:prstGeom prst="rect">
            <a:avLst/>
          </a:prstGeom>
          <a:noFill/>
        </p:spPr>
        <p:txBody>
          <a:bodyPr wrap="none">
            <a:spAutoFit/>
          </a:bodyPr>
          <a:lstStyle/>
          <a:p>
            <a:pPr algn="r"/>
            <a:r>
              <a:rPr sz="1000" b="1">
                <a:solidFill>
                  <a:srgbClr val="133E68"/>
                </a:solidFill>
                <a:latin typeface="Segoe UI"/>
              </a:rPr>
              <a:t>11 / 13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2107692" cy="237744"/>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10 | HỎI ĐÁP CHUYÊN MÔN</a:t>
            </a:r>
          </a:p>
        </p:txBody>
      </p:sp>
      <p:sp>
        <p:nvSpPr>
          <p:cNvPr id="5" name="TextBox 4"/>
          <p:cNvSpPr txBox="1"/>
          <p:nvPr/>
        </p:nvSpPr>
        <p:spPr>
          <a:xfrm>
            <a:off x="548640" y="475488"/>
            <a:ext cx="11094415" cy="384048"/>
          </a:xfrm>
          <a:prstGeom prst="rect">
            <a:avLst/>
          </a:prstGeom>
          <a:noFill/>
        </p:spPr>
        <p:txBody>
          <a:bodyPr wrap="square">
            <a:spAutoFit/>
          </a:bodyPr>
          <a:lstStyle/>
          <a:p>
            <a:pPr algn="l"/>
            <a:r>
              <a:rPr sz="2300" b="1">
                <a:solidFill>
                  <a:srgbClr val="133E68"/>
                </a:solidFill>
                <a:latin typeface="Segoe UI"/>
              </a:rPr>
              <a:t>10. Câu hỏi thường gặp</a:t>
            </a:r>
          </a:p>
        </p:txBody>
      </p:sp>
      <p:sp>
        <p:nvSpPr>
          <p:cNvPr id="6" name="TextBox 5"/>
          <p:cNvSpPr txBox="1"/>
          <p:nvPr/>
        </p:nvSpPr>
        <p:spPr>
          <a:xfrm>
            <a:off x="548640" y="841248"/>
            <a:ext cx="11094415" cy="256032"/>
          </a:xfrm>
          <a:prstGeom prst="rect">
            <a:avLst/>
          </a:prstGeom>
          <a:noFill/>
        </p:spPr>
        <p:txBody>
          <a:bodyPr wrap="none">
            <a:spAutoFit/>
          </a:bodyPr>
          <a:lstStyle/>
          <a:p>
            <a:pPr algn="l"/>
            <a:r>
              <a:rPr sz="1250" b="0">
                <a:solidFill>
                  <a:srgbClr val="64748B"/>
                </a:solidFill>
                <a:latin typeface="Segoe UI"/>
              </a:rPr>
              <a:t>Giải đáp các thắc mắc trọng tâm từ Hội đồng Giám khảo chuyên môn</a:t>
            </a:r>
          </a:p>
        </p:txBody>
      </p:sp>
      <p:sp>
        <p:nvSpPr>
          <p:cNvPr id="7" name="Rectangle 6"/>
          <p:cNvSpPr/>
          <p:nvPr/>
        </p:nvSpPr>
        <p:spPr>
          <a:xfrm>
            <a:off x="548640" y="1115568"/>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325880"/>
            <a:ext cx="5394960" cy="224028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325880"/>
            <a:ext cx="539496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77240" y="1508760"/>
            <a:ext cx="2729484" cy="219456"/>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CÂU HỎI 1 · MẶC ĐỊNH THUẬT TOÁN</a:t>
            </a:r>
          </a:p>
        </p:txBody>
      </p:sp>
      <p:sp>
        <p:nvSpPr>
          <p:cNvPr id="11" name="TextBox 10"/>
          <p:cNvSpPr txBox="1"/>
          <p:nvPr/>
        </p:nvSpPr>
        <p:spPr>
          <a:xfrm>
            <a:off x="777240" y="1783080"/>
            <a:ext cx="4937760" cy="1691640"/>
          </a:xfrm>
          <a:prstGeom prst="rect">
            <a:avLst/>
          </a:prstGeom>
          <a:noFill/>
        </p:spPr>
        <p:txBody>
          <a:bodyPr wrap="square">
            <a:spAutoFit/>
          </a:bodyPr>
          <a:lstStyle/>
          <a:p>
            <a:r>
              <a:rPr sz="1400" b="1">
                <a:solidFill>
                  <a:srgbClr val="133E68"/>
                </a:solidFill>
                <a:latin typeface="Segoe UI"/>
              </a:rPr>
              <a:t>Q: Vì sao phần mềm mặc định dùng CoG?</a:t>
            </a:r>
          </a:p>
          <a:p>
            <a:pPr>
              <a:spcBef>
                <a:spcPts val="400"/>
              </a:spcBef>
            </a:pPr>
            <a:r>
              <a:rPr sz="1250" b="1">
                <a:solidFill>
                  <a:srgbClr val="1E293B"/>
                </a:solidFill>
                <a:latin typeface="Segoe UI"/>
              </a:rPr>
              <a:t>• Phần mềm mặc định dùng tâm cổ điển. CNN là lựa chọn công khai, không huấn luyện lại.</a:t>
            </a:r>
          </a:p>
          <a:p>
            <a:pPr>
              <a:spcBef>
                <a:spcPts val="400"/>
              </a:spcBef>
            </a:pPr>
            <a:r>
              <a:rPr sz="1150" b="0">
                <a:solidFill>
                  <a:srgbClr val="64748B"/>
                </a:solidFill>
                <a:latin typeface="Segoe UI"/>
              </a:rPr>
              <a:t>• Trên bầu trời sạch tiêu chuẩn, CoG đạt độ chính xác cao hơn và tốc độ nhanh gấp đôi. Mạng CNN chỉ đóng vai trò dự phòng khi có ánh sáng lạc hoặc vật cản địa hình.</a:t>
            </a:r>
          </a:p>
        </p:txBody>
      </p:sp>
      <p:sp>
        <p:nvSpPr>
          <p:cNvPr id="12" name="Rounded Rectangle 11"/>
          <p:cNvSpPr/>
          <p:nvPr/>
        </p:nvSpPr>
        <p:spPr>
          <a:xfrm>
            <a:off x="6245352" y="1325880"/>
            <a:ext cx="5394960" cy="224028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245352" y="1325880"/>
            <a:ext cx="539496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73952" y="1508760"/>
            <a:ext cx="2729484" cy="219456"/>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CÂU HỎI 2 · ĐỐI CHIẾU 500 KHUNG</a:t>
            </a:r>
          </a:p>
        </p:txBody>
      </p:sp>
      <p:sp>
        <p:nvSpPr>
          <p:cNvPr id="15" name="TextBox 14"/>
          <p:cNvSpPr txBox="1"/>
          <p:nvPr/>
        </p:nvSpPr>
        <p:spPr>
          <a:xfrm>
            <a:off x="6473952" y="1783080"/>
            <a:ext cx="4937760" cy="1691640"/>
          </a:xfrm>
          <a:prstGeom prst="rect">
            <a:avLst/>
          </a:prstGeom>
          <a:noFill/>
        </p:spPr>
        <p:txBody>
          <a:bodyPr wrap="square">
            <a:spAutoFit/>
          </a:bodyPr>
          <a:lstStyle/>
          <a:p>
            <a:r>
              <a:rPr sz="1400" b="1">
                <a:solidFill>
                  <a:srgbClr val="133E68"/>
                </a:solidFill>
                <a:latin typeface="Segoe UI"/>
              </a:rPr>
              <a:t>Q: Kết quả đo kiểm 500 khung sạch thế nào?</a:t>
            </a:r>
          </a:p>
          <a:p>
            <a:pPr>
              <a:spcBef>
                <a:spcPts val="400"/>
              </a:spcBef>
            </a:pPr>
            <a:r>
              <a:rPr sz="1250" b="1">
                <a:solidFill>
                  <a:srgbClr val="1E293B"/>
                </a:solidFill>
                <a:latin typeface="Segoe UI"/>
              </a:rPr>
              <a:t>• Trên 500 khung sạch, CoG có RMSE 0,1804 px, CNN 0,4745 px.</a:t>
            </a:r>
          </a:p>
          <a:p>
            <a:pPr>
              <a:spcBef>
                <a:spcPts val="400"/>
              </a:spcBef>
            </a:pPr>
            <a:r>
              <a:rPr sz="1150" b="0">
                <a:solidFill>
                  <a:srgbClr val="64748B"/>
                </a:solidFill>
                <a:latin typeface="Segoe UI"/>
              </a:rPr>
              <a:t>• CoG độ trễ 34 ms so với CNN 60 ms. Tỷ lệ khớp sao CoG đạt tuyệt đối 100% (12.592/12.592 sao).</a:t>
            </a:r>
          </a:p>
        </p:txBody>
      </p:sp>
      <p:sp>
        <p:nvSpPr>
          <p:cNvPr id="16" name="Rounded Rectangle 15"/>
          <p:cNvSpPr/>
          <p:nvPr/>
        </p:nvSpPr>
        <p:spPr>
          <a:xfrm>
            <a:off x="548640" y="3822192"/>
            <a:ext cx="5394960" cy="224028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48640" y="3822192"/>
            <a:ext cx="5394960" cy="73152"/>
          </a:xfrm>
          <a:prstGeom prst="roundRect">
            <a:avLst>
              <a:gd name="adj" fmla="val 40000"/>
            </a:avLst>
          </a:prstGeom>
          <a:solidFill>
            <a:srgbClr val="E0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77240" y="4005072"/>
            <a:ext cx="2340864" cy="219456"/>
          </a:xfrm>
          <a:prstGeom prst="roundRect">
            <a:avLst>
              <a:gd name="adj" fmla="val 40000"/>
            </a:avLst>
          </a:prstGeom>
          <a:solidFill>
            <a:srgbClr val="FFF2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E05A1F"/>
                </a:solidFill>
                <a:latin typeface="Segoe UI"/>
              </a:rPr>
              <a:t>CÂU HỎI 3 · ƯU THẾ ẢNH NÚI</a:t>
            </a:r>
          </a:p>
        </p:txBody>
      </p:sp>
      <p:sp>
        <p:nvSpPr>
          <p:cNvPr id="19" name="TextBox 18"/>
          <p:cNvSpPr txBox="1"/>
          <p:nvPr/>
        </p:nvSpPr>
        <p:spPr>
          <a:xfrm>
            <a:off x="777240" y="4279392"/>
            <a:ext cx="4937760" cy="1691640"/>
          </a:xfrm>
          <a:prstGeom prst="rect">
            <a:avLst/>
          </a:prstGeom>
          <a:noFill/>
        </p:spPr>
        <p:txBody>
          <a:bodyPr wrap="square">
            <a:spAutoFit/>
          </a:bodyPr>
          <a:lstStyle/>
          <a:p>
            <a:r>
              <a:rPr sz="1400" b="1">
                <a:solidFill>
                  <a:srgbClr val="E05A1F"/>
                </a:solidFill>
                <a:latin typeface="Segoe UI"/>
              </a:rPr>
              <a:t>Q: Mạng CNN chứng minh giá trị ở đâu?</a:t>
            </a:r>
          </a:p>
          <a:p>
            <a:pPr>
              <a:spcBef>
                <a:spcPts val="400"/>
              </a:spcBef>
            </a:pPr>
            <a:r>
              <a:rPr sz="1250" b="1">
                <a:solidFill>
                  <a:srgbClr val="1E293B"/>
                </a:solidFill>
                <a:latin typeface="Segoe UI"/>
              </a:rPr>
              <a:t>• Trên ảnh núi, CNN còn 1 điểm trên địa hình, CoG còn 25.</a:t>
            </a:r>
          </a:p>
          <a:p>
            <a:pPr>
              <a:spcBef>
                <a:spcPts val="400"/>
              </a:spcBef>
            </a:pPr>
            <a:r>
              <a:rPr sz="1150" b="0">
                <a:solidFill>
                  <a:srgbClr val="64748B"/>
                </a:solidFill>
                <a:latin typeface="Segoe UI"/>
              </a:rPr>
              <a:t>• CNN giảm 96% điểm sáng giả trên địa hình, giúp góc giải lệch LOST chỉ 0,038° (CoG lệch 0,094°) và giải nhanh gấp 3,2 lần (5,1 s so với 16,2 s).</a:t>
            </a:r>
          </a:p>
        </p:txBody>
      </p:sp>
      <p:sp>
        <p:nvSpPr>
          <p:cNvPr id="20" name="Rounded Rectangle 19"/>
          <p:cNvSpPr/>
          <p:nvPr/>
        </p:nvSpPr>
        <p:spPr>
          <a:xfrm>
            <a:off x="6245352" y="3822192"/>
            <a:ext cx="5394960" cy="224028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45352" y="3822192"/>
            <a:ext cx="539496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73952" y="4005072"/>
            <a:ext cx="2962656" cy="219456"/>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CÂU HỎI 4 · CHUẨN ĐẦU RA &amp; CATALOG</a:t>
            </a:r>
          </a:p>
        </p:txBody>
      </p:sp>
      <p:sp>
        <p:nvSpPr>
          <p:cNvPr id="23" name="TextBox 22"/>
          <p:cNvSpPr txBox="1"/>
          <p:nvPr/>
        </p:nvSpPr>
        <p:spPr>
          <a:xfrm>
            <a:off x="6473952" y="4279392"/>
            <a:ext cx="4937760" cy="1691640"/>
          </a:xfrm>
          <a:prstGeom prst="rect">
            <a:avLst/>
          </a:prstGeom>
          <a:noFill/>
        </p:spPr>
        <p:txBody>
          <a:bodyPr wrap="square">
            <a:spAutoFit/>
          </a:bodyPr>
          <a:lstStyle/>
          <a:p>
            <a:r>
              <a:rPr sz="1400" b="1">
                <a:solidFill>
                  <a:srgbClr val="133E68"/>
                </a:solidFill>
                <a:latin typeface="Segoe UI"/>
              </a:rPr>
              <a:t>Q: Tiêu chuẩn đầu ra và catalog sao sử dụng?</a:t>
            </a:r>
          </a:p>
          <a:p>
            <a:pPr>
              <a:spcBef>
                <a:spcPts val="400"/>
              </a:spcBef>
            </a:pPr>
            <a:r>
              <a:rPr sz="1250" b="1">
                <a:solidFill>
                  <a:srgbClr val="1E293B"/>
                </a:solidFill>
                <a:latin typeface="Segoe UI"/>
              </a:rPr>
              <a:t>• Đầu ra là quaternion J2000, 16 byte. Catalog là Yale BSC5, V ≤ 6, 5023 sao.</a:t>
            </a:r>
          </a:p>
          <a:p>
            <a:pPr>
              <a:spcBef>
                <a:spcPts val="400"/>
              </a:spcBef>
            </a:pPr>
            <a:r>
              <a:rPr sz="1150" b="0">
                <a:solidFill>
                  <a:srgbClr val="64748B"/>
                </a:solidFill>
                <a:latin typeface="Segoe UI"/>
              </a:rPr>
              <a:t>• Đầu ra 4 số thực [q0, q1, q2, q3] chuẩn mực hàng không vũ trụ. Trường nhìn 25° × 17° đảm bảo luôn chứa 10–30 sao định vị tại mọi vị trí bầu trời.</a:t>
            </a:r>
          </a:p>
        </p:txBody>
      </p:sp>
      <p:sp>
        <p:nvSpPr>
          <p:cNvPr id="24" name="Rectangle 23"/>
          <p:cNvSpPr/>
          <p:nvPr/>
        </p:nvSpPr>
        <p:spPr>
          <a:xfrm>
            <a:off x="548640" y="6364224"/>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6419088"/>
            <a:ext cx="9144000" cy="320040"/>
          </a:xfrm>
          <a:prstGeom prst="rect">
            <a:avLst/>
          </a:prstGeom>
          <a:noFill/>
        </p:spPr>
        <p:txBody>
          <a:bodyPr wrap="none">
            <a:spAutoFit/>
          </a:bodyPr>
          <a:lstStyle/>
          <a:p>
            <a:r>
              <a:rPr sz="1000" b="0">
                <a:solidFill>
                  <a:srgbClr val="64748B"/>
                </a:solidFill>
                <a:latin typeface="Segoe UI"/>
              </a:rPr>
              <a:t>Trường Đại học Bách khoa, Đại học Đà Nẵng — Khoa Công nghệ thông tin</a:t>
            </a:r>
          </a:p>
        </p:txBody>
      </p:sp>
      <p:sp>
        <p:nvSpPr>
          <p:cNvPr id="26" name="TextBox 25"/>
          <p:cNvSpPr txBox="1"/>
          <p:nvPr/>
        </p:nvSpPr>
        <p:spPr>
          <a:xfrm>
            <a:off x="9814255" y="6419088"/>
            <a:ext cx="1828800" cy="320040"/>
          </a:xfrm>
          <a:prstGeom prst="rect">
            <a:avLst/>
          </a:prstGeom>
          <a:noFill/>
        </p:spPr>
        <p:txBody>
          <a:bodyPr wrap="none">
            <a:spAutoFit/>
          </a:bodyPr>
          <a:lstStyle/>
          <a:p>
            <a:pPr algn="r"/>
            <a:r>
              <a:rPr sz="1000" b="1">
                <a:solidFill>
                  <a:srgbClr val="133E68"/>
                </a:solidFill>
                <a:latin typeface="Segoe UI"/>
              </a:rPr>
              <a:t>12 / 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641348" cy="237744"/>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TỔNG KẾT &amp; CẢM ƠN</a:t>
            </a:r>
          </a:p>
        </p:txBody>
      </p:sp>
      <p:sp>
        <p:nvSpPr>
          <p:cNvPr id="5" name="TextBox 4"/>
          <p:cNvSpPr txBox="1"/>
          <p:nvPr/>
        </p:nvSpPr>
        <p:spPr>
          <a:xfrm>
            <a:off x="548640" y="475488"/>
            <a:ext cx="11094415" cy="384048"/>
          </a:xfrm>
          <a:prstGeom prst="rect">
            <a:avLst/>
          </a:prstGeom>
          <a:noFill/>
        </p:spPr>
        <p:txBody>
          <a:bodyPr wrap="square">
            <a:spAutoFit/>
          </a:bodyPr>
          <a:lstStyle/>
          <a:p>
            <a:pPr algn="l"/>
            <a:r>
              <a:rPr sz="2300" b="1">
                <a:solidFill>
                  <a:srgbClr val="133E68"/>
                </a:solidFill>
                <a:latin typeface="Segoe UI"/>
              </a:rPr>
              <a:t>Kết · Cảm ơn quý thầy cô</a:t>
            </a:r>
          </a:p>
        </p:txBody>
      </p:sp>
      <p:sp>
        <p:nvSpPr>
          <p:cNvPr id="6" name="TextBox 5"/>
          <p:cNvSpPr txBox="1"/>
          <p:nvPr/>
        </p:nvSpPr>
        <p:spPr>
          <a:xfrm>
            <a:off x="548640" y="841248"/>
            <a:ext cx="11094415" cy="256032"/>
          </a:xfrm>
          <a:prstGeom prst="rect">
            <a:avLst/>
          </a:prstGeom>
          <a:noFill/>
        </p:spPr>
        <p:txBody>
          <a:bodyPr wrap="none">
            <a:spAutoFit/>
          </a:bodyPr>
          <a:lstStyle/>
          <a:p>
            <a:pPr algn="l"/>
            <a:r>
              <a:rPr sz="1250" b="0">
                <a:solidFill>
                  <a:srgbClr val="64748B"/>
                </a:solidFill>
                <a:latin typeface="Segoe UI"/>
              </a:rPr>
              <a:t>Dự án Star Tracker Demo Laptop — Cuộc thi Sáng tạo trẻ Quốc gia AI 2026</a:t>
            </a:r>
          </a:p>
        </p:txBody>
      </p:sp>
      <p:sp>
        <p:nvSpPr>
          <p:cNvPr id="7" name="Rectangle 6"/>
          <p:cNvSpPr/>
          <p:nvPr/>
        </p:nvSpPr>
        <p:spPr>
          <a:xfrm>
            <a:off x="548640" y="1115568"/>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325880"/>
            <a:ext cx="5394960" cy="352044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325880"/>
            <a:ext cx="5394960" cy="73152"/>
          </a:xfrm>
          <a:prstGeom prst="roundRect">
            <a:avLst>
              <a:gd name="adj" fmla="val 40000"/>
            </a:avLst>
          </a:prstGeom>
          <a:solidFill>
            <a:srgbClr val="133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77240" y="1508760"/>
            <a:ext cx="1641348" cy="219456"/>
          </a:xfrm>
          <a:prstGeom prst="roundRect">
            <a:avLst>
              <a:gd name="adj" fmla="val 40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133E68"/>
                </a:solidFill>
                <a:latin typeface="Segoe UI"/>
              </a:rPr>
              <a:t>TỔNG KẾT KỸ THUẬT</a:t>
            </a:r>
          </a:p>
        </p:txBody>
      </p:sp>
      <p:sp>
        <p:nvSpPr>
          <p:cNvPr id="11" name="TextBox 10"/>
          <p:cNvSpPr txBox="1"/>
          <p:nvPr/>
        </p:nvSpPr>
        <p:spPr>
          <a:xfrm>
            <a:off x="777240" y="1828800"/>
            <a:ext cx="4937760" cy="2834640"/>
          </a:xfrm>
          <a:prstGeom prst="rect">
            <a:avLst/>
          </a:prstGeom>
          <a:noFill/>
        </p:spPr>
        <p:txBody>
          <a:bodyPr wrap="square">
            <a:spAutoFit/>
          </a:bodyPr>
          <a:lstStyle/>
          <a:p>
            <a:r>
              <a:rPr sz="1800" b="1">
                <a:solidFill>
                  <a:srgbClr val="133E68"/>
                </a:solidFill>
                <a:latin typeface="Segoe UI"/>
              </a:rPr>
              <a:t>Kiến trúc lai hiệu quả</a:t>
            </a:r>
          </a:p>
          <a:p>
            <a:pPr>
              <a:spcBef>
                <a:spcPts val="800"/>
              </a:spcBef>
            </a:pPr>
            <a:r>
              <a:rPr sz="1300" b="0">
                <a:solidFill>
                  <a:srgbClr val="1E293B"/>
                </a:solidFill>
                <a:latin typeface="Segoe UI"/>
              </a:rPr>
              <a:t>• Hai cách lấy tâm đi qua một đường ống nhận dạng.
• Trên ảnh sạch, CoG chính xác hơn. Trên ảnh núi, CNN giảm điểm sáng giả.
• Kết hợp hài hòa giữa thuật toán cổ điển chính xác cao và mạng nơ-ron chuyên biệt khử nhiễu.
• Xuất quaternion 16 byte chuẩn J2000 sẵn sàng tích hợp vệ tinh.</a:t>
            </a:r>
          </a:p>
        </p:txBody>
      </p:sp>
      <p:sp>
        <p:nvSpPr>
          <p:cNvPr id="12" name="Rounded Rectangle 11"/>
          <p:cNvSpPr/>
          <p:nvPr/>
        </p:nvSpPr>
        <p:spPr>
          <a:xfrm>
            <a:off x="6248095" y="1325880"/>
            <a:ext cx="5394960" cy="3520440"/>
          </a:xfrm>
          <a:prstGeom prst="roundRect">
            <a:avLst>
              <a:gd name="adj" fmla="val 5000"/>
            </a:avLst>
          </a:prstGeom>
          <a:solidFill>
            <a:srgbClr val="FFFFFF"/>
          </a:solidFill>
          <a:ln w="12700">
            <a:solidFill>
              <a:srgbClr val="DB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248095" y="1325880"/>
            <a:ext cx="5394960" cy="73152"/>
          </a:xfrm>
          <a:prstGeom prst="roundRect">
            <a:avLst>
              <a:gd name="adj" fmla="val 40000"/>
            </a:avLst>
          </a:prstGeom>
          <a:solidFill>
            <a:srgbClr val="E0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76695" y="1508760"/>
            <a:ext cx="1485900" cy="219456"/>
          </a:xfrm>
          <a:prstGeom prst="roundRect">
            <a:avLst>
              <a:gd name="adj" fmla="val 40000"/>
            </a:avLst>
          </a:prstGeom>
          <a:solidFill>
            <a:srgbClr val="FFF2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50" b="1">
                <a:solidFill>
                  <a:srgbClr val="E05A1F"/>
                </a:solidFill>
                <a:latin typeface="Segoe UI"/>
              </a:rPr>
              <a:t>THÔNG TIN DỰ ÁN</a:t>
            </a:r>
          </a:p>
        </p:txBody>
      </p:sp>
      <p:sp>
        <p:nvSpPr>
          <p:cNvPr id="15" name="TextBox 14"/>
          <p:cNvSpPr txBox="1"/>
          <p:nvPr/>
        </p:nvSpPr>
        <p:spPr>
          <a:xfrm>
            <a:off x="6476695" y="1828800"/>
            <a:ext cx="4937760" cy="2834640"/>
          </a:xfrm>
          <a:prstGeom prst="rect">
            <a:avLst/>
          </a:prstGeom>
          <a:noFill/>
        </p:spPr>
        <p:txBody>
          <a:bodyPr wrap="square">
            <a:spAutoFit/>
          </a:bodyPr>
          <a:lstStyle/>
          <a:p>
            <a:r>
              <a:rPr sz="1800" b="1">
                <a:solidFill>
                  <a:srgbClr val="E05A1F"/>
                </a:solidFill>
                <a:latin typeface="Segoe UI"/>
              </a:rPr>
              <a:t>Thông tin thực hiện &amp; Hướng dẫn</a:t>
            </a:r>
          </a:p>
          <a:p>
            <a:pPr>
              <a:spcBef>
                <a:spcPts val="800"/>
              </a:spcBef>
            </a:pPr>
            <a:r>
              <a:rPr sz="1300" b="0">
                <a:solidFill>
                  <a:srgbClr val="1E293B"/>
                </a:solidFill>
                <a:latin typeface="Segoe UI"/>
              </a:rPr>
              <a:t>• Giảng viên hướng dẫn: TS. Nguyễn Năng Hùng Vân
• Trường Đại học Bách khoa, Đại học Đà Nẵng — Khoa Công nghệ thông tin
• Đội tác giả: Hoàng Trần Đức Hải · Nguyễn Tiến · Mai Tạ Trúc Vy
• Cuộc thi Sáng tạo trẻ Quốc gia — Trí tuệ nhân tạo 2026 (Bảng C).</a:t>
            </a:r>
          </a:p>
        </p:txBody>
      </p:sp>
      <p:sp>
        <p:nvSpPr>
          <p:cNvPr id="16" name="Rectangle 15"/>
          <p:cNvSpPr/>
          <p:nvPr/>
        </p:nvSpPr>
        <p:spPr>
          <a:xfrm>
            <a:off x="0" y="5010912"/>
            <a:ext cx="12191695"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logo_truong.png"/>
          <p:cNvPicPr>
            <a:picLocks noChangeAspect="1"/>
          </p:cNvPicPr>
          <p:nvPr/>
        </p:nvPicPr>
        <p:blipFill>
          <a:blip r:embed="rId2"/>
          <a:stretch>
            <a:fillRect/>
          </a:stretch>
        </p:blipFill>
        <p:spPr>
          <a:xfrm>
            <a:off x="548640" y="5230183"/>
            <a:ext cx="5303520" cy="841617"/>
          </a:xfrm>
          <a:prstGeom prst="rect">
            <a:avLst/>
          </a:prstGeom>
        </p:spPr>
      </p:pic>
      <p:pic>
        <p:nvPicPr>
          <p:cNvPr id="18" name="Picture 17" descr="logo_khoa.png"/>
          <p:cNvPicPr>
            <a:picLocks noChangeAspect="1"/>
          </p:cNvPicPr>
          <p:nvPr/>
        </p:nvPicPr>
        <p:blipFill>
          <a:blip r:embed="rId3"/>
          <a:stretch>
            <a:fillRect/>
          </a:stretch>
        </p:blipFill>
        <p:spPr>
          <a:xfrm>
            <a:off x="6309360" y="5316870"/>
            <a:ext cx="5303520" cy="668244"/>
          </a:xfrm>
          <a:prstGeom prst="rect">
            <a:avLst/>
          </a:prstGeom>
        </p:spPr>
      </p:pic>
      <p:sp>
        <p:nvSpPr>
          <p:cNvPr id="19" name="Rectangle 18"/>
          <p:cNvSpPr/>
          <p:nvPr/>
        </p:nvSpPr>
        <p:spPr>
          <a:xfrm>
            <a:off x="548640" y="6364224"/>
            <a:ext cx="11094415" cy="10972"/>
          </a:xfrm>
          <a:prstGeom prst="rect">
            <a:avLst/>
          </a:prstGeom>
          <a:solidFill>
            <a:srgbClr val="DB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6419088"/>
            <a:ext cx="9144000" cy="320040"/>
          </a:xfrm>
          <a:prstGeom prst="rect">
            <a:avLst/>
          </a:prstGeom>
          <a:noFill/>
        </p:spPr>
        <p:txBody>
          <a:bodyPr wrap="none">
            <a:spAutoFit/>
          </a:bodyPr>
          <a:lstStyle/>
          <a:p>
            <a:r>
              <a:rPr sz="1000" b="0">
                <a:solidFill>
                  <a:srgbClr val="64748B"/>
                </a:solidFill>
                <a:latin typeface="Segoe UI"/>
              </a:rPr>
              <a:t>Trường Đại học Bách khoa, Đại học Đà Nẵng — Khoa Công nghệ thông tin</a:t>
            </a:r>
          </a:p>
        </p:txBody>
      </p:sp>
      <p:sp>
        <p:nvSpPr>
          <p:cNvPr id="21" name="TextBox 20"/>
          <p:cNvSpPr txBox="1"/>
          <p:nvPr/>
        </p:nvSpPr>
        <p:spPr>
          <a:xfrm>
            <a:off x="9814255" y="6419088"/>
            <a:ext cx="1828800" cy="320040"/>
          </a:xfrm>
          <a:prstGeom prst="rect">
            <a:avLst/>
          </a:prstGeom>
          <a:noFill/>
        </p:spPr>
        <p:txBody>
          <a:bodyPr wrap="none">
            <a:spAutoFit/>
          </a:bodyPr>
          <a:lstStyle/>
          <a:p>
            <a:pPr algn="r"/>
            <a:r>
              <a:rPr sz="1000" b="1">
                <a:solidFill>
                  <a:srgbClr val="133E68"/>
                </a:solidFill>
                <a:latin typeface="Segoe UI"/>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2751</Words>
  <Application>Microsoft Office PowerPoint</Application>
  <PresentationFormat>Widescreen</PresentationFormat>
  <Paragraphs>213</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Hoàng Trần Đức Hải</cp:lastModifiedBy>
  <cp:revision>2</cp:revision>
  <dcterms:created xsi:type="dcterms:W3CDTF">2013-01-27T09:14:16Z</dcterms:created>
  <dcterms:modified xsi:type="dcterms:W3CDTF">2026-09-27T07:39:54Z</dcterms:modified>
  <cp:category/>
</cp:coreProperties>
</file>